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0" r:id="rId1"/>
  </p:sldMasterIdLst>
  <p:notesMasterIdLst>
    <p:notesMasterId r:id="rId26"/>
  </p:notesMasterIdLst>
  <p:sldIdLst>
    <p:sldId id="256" r:id="rId2"/>
    <p:sldId id="257" r:id="rId3"/>
    <p:sldId id="258" r:id="rId4"/>
    <p:sldId id="259" r:id="rId5"/>
    <p:sldId id="260" r:id="rId6"/>
    <p:sldId id="262" r:id="rId7"/>
    <p:sldId id="261" r:id="rId8"/>
    <p:sldId id="274" r:id="rId9"/>
    <p:sldId id="275" r:id="rId10"/>
    <p:sldId id="276" r:id="rId11"/>
    <p:sldId id="263" r:id="rId12"/>
    <p:sldId id="264" r:id="rId13"/>
    <p:sldId id="265" r:id="rId14"/>
    <p:sldId id="266" r:id="rId15"/>
    <p:sldId id="267" r:id="rId16"/>
    <p:sldId id="269" r:id="rId17"/>
    <p:sldId id="268" r:id="rId18"/>
    <p:sldId id="270" r:id="rId19"/>
    <p:sldId id="272" r:id="rId20"/>
    <p:sldId id="273" r:id="rId21"/>
    <p:sldId id="271"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D1B511-3DC3-452F-B69F-56579057D25C}" v="290" dt="2025-11-22T10:53:45.1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8" d="100"/>
          <a:sy n="58" d="100"/>
        </p:scale>
        <p:origin x="-960" y="-18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D260A-0F3D-4A21-98DD-958DB842C739}" type="datetimeFigureOut">
              <a:rPr lang="en-IN" smtClean="0"/>
              <a:t>22-11-2025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5FD171-7CBC-4450-85F4-D53F3785ADE7}" type="slidenum">
              <a:rPr lang="en-IN" smtClean="0"/>
              <a:t>‹#›</a:t>
            </a:fld>
            <a:endParaRPr lang="en-IN"/>
          </a:p>
        </p:txBody>
      </p:sp>
    </p:spTree>
    <p:extLst>
      <p:ext uri="{BB962C8B-B14F-4D97-AF65-F5344CB8AC3E}">
        <p14:creationId xmlns:p14="http://schemas.microsoft.com/office/powerpoint/2010/main" val="435563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5FD171-7CBC-4450-85F4-D53F3785ADE7}" type="slidenum">
              <a:rPr lang="en-IN" smtClean="0"/>
              <a:t>11</a:t>
            </a:fld>
            <a:endParaRPr lang="en-IN"/>
          </a:p>
        </p:txBody>
      </p:sp>
    </p:spTree>
    <p:extLst>
      <p:ext uri="{BB962C8B-B14F-4D97-AF65-F5344CB8AC3E}">
        <p14:creationId xmlns:p14="http://schemas.microsoft.com/office/powerpoint/2010/main" val="1039958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5FD171-7CBC-4450-85F4-D53F3785ADE7}" type="slidenum">
              <a:rPr lang="en-IN" smtClean="0"/>
              <a:t>12</a:t>
            </a:fld>
            <a:endParaRPr lang="en-IN"/>
          </a:p>
        </p:txBody>
      </p:sp>
    </p:spTree>
    <p:extLst>
      <p:ext uri="{BB962C8B-B14F-4D97-AF65-F5344CB8AC3E}">
        <p14:creationId xmlns:p14="http://schemas.microsoft.com/office/powerpoint/2010/main" val="3711669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5FD171-7CBC-4450-85F4-D53F3785ADE7}" type="slidenum">
              <a:rPr lang="en-IN" smtClean="0"/>
              <a:t>13</a:t>
            </a:fld>
            <a:endParaRPr lang="en-IN"/>
          </a:p>
        </p:txBody>
      </p:sp>
    </p:spTree>
    <p:extLst>
      <p:ext uri="{BB962C8B-B14F-4D97-AF65-F5344CB8AC3E}">
        <p14:creationId xmlns:p14="http://schemas.microsoft.com/office/powerpoint/2010/main" val="505875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5FD171-7CBC-4450-85F4-D53F3785ADE7}" type="slidenum">
              <a:rPr lang="en-IN" smtClean="0"/>
              <a:t>21</a:t>
            </a:fld>
            <a:endParaRPr lang="en-IN"/>
          </a:p>
        </p:txBody>
      </p:sp>
    </p:spTree>
    <p:extLst>
      <p:ext uri="{BB962C8B-B14F-4D97-AF65-F5344CB8AC3E}">
        <p14:creationId xmlns:p14="http://schemas.microsoft.com/office/powerpoint/2010/main" val="731726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2E6EEDF-6A19-49E9-AD12-9FDD43133134}"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2215006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E6EEDF-6A19-49E9-AD12-9FDD43133134}"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2185420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E6EEDF-6A19-49E9-AD12-9FDD43133134}"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261900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2E6EEDF-6A19-49E9-AD12-9FDD43133134}" type="datetimeFigureOut">
              <a:rPr lang="en-IN" smtClean="0"/>
              <a:t>22-11-2025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1901810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E6EEDF-6A19-49E9-AD12-9FDD43133134}" type="datetimeFigureOut">
              <a:rPr lang="en-IN" smtClean="0"/>
              <a:t>22-11-2025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3143697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E6EEDF-6A19-49E9-AD12-9FDD43133134}" type="datetimeFigureOut">
              <a:rPr lang="en-IN" smtClean="0"/>
              <a:t>22-11-2025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3939951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E6EEDF-6A19-49E9-AD12-9FDD43133134}" type="datetimeFigureOut">
              <a:rPr lang="en-IN" smtClean="0"/>
              <a:t>22-11-2025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1650181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E6EEDF-6A19-49E9-AD12-9FDD43133134}" type="datetimeFigureOut">
              <a:rPr lang="en-IN" smtClean="0"/>
              <a:t>22-11-2025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2384443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E6EEDF-6A19-49E9-AD12-9FDD43133134}" type="datetimeFigureOut">
              <a:rPr lang="en-IN" smtClean="0"/>
              <a:t>22-11-2025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882491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E6EEDF-6A19-49E9-AD12-9FDD43133134}" type="datetimeFigureOut">
              <a:rPr lang="en-IN" smtClean="0"/>
              <a:t>22-11-2025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1924958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E6EEDF-6A19-49E9-AD12-9FDD43133134}" type="datetimeFigureOut">
              <a:rPr lang="en-IN" smtClean="0"/>
              <a:t>22-11-2025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3107460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E6EEDF-6A19-49E9-AD12-9FDD43133134}" type="datetimeFigureOut">
              <a:rPr lang="en-IN" smtClean="0"/>
              <a:t>22-11-2025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7CD5A4-2857-45E3-A610-138C17FE9103}"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231042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E6EEDF-6A19-49E9-AD12-9FDD43133134}" type="datetimeFigureOut">
              <a:rPr lang="en-IN" smtClean="0"/>
              <a:t>22-11-2025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11897264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2E6EEDF-6A19-49E9-AD12-9FDD43133134}" type="datetimeFigureOut">
              <a:rPr lang="en-IN" smtClean="0"/>
              <a:t>22-11-2025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1417155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2E6EEDF-6A19-49E9-AD12-9FDD43133134}" type="datetimeFigureOut">
              <a:rPr lang="en-IN" smtClean="0"/>
              <a:t>22-11-2025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19323669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E6EEDF-6A19-49E9-AD12-9FDD43133134}"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3087816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E6EEDF-6A19-49E9-AD12-9FDD43133134}"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7CD5A4-2857-45E3-A610-138C17FE9103}" type="slidenum">
              <a:rPr lang="en-IN" smtClean="0"/>
              <a:t>‹#›</a:t>
            </a:fld>
            <a:endParaRPr lang="en-IN"/>
          </a:p>
        </p:txBody>
      </p:sp>
    </p:spTree>
    <p:extLst>
      <p:ext uri="{BB962C8B-B14F-4D97-AF65-F5344CB8AC3E}">
        <p14:creationId xmlns:p14="http://schemas.microsoft.com/office/powerpoint/2010/main" val="1269001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2E6EEDF-6A19-49E9-AD12-9FDD43133134}" type="datetimeFigureOut">
              <a:rPr lang="en-IN" smtClean="0"/>
              <a:t>22-11-2025</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A27CD5A4-2857-45E3-A610-138C17FE9103}" type="slidenum">
              <a:rPr lang="en-IN" smtClean="0"/>
              <a:t>‹#›</a:t>
            </a:fld>
            <a:endParaRPr lang="en-IN"/>
          </a:p>
        </p:txBody>
      </p:sp>
    </p:spTree>
    <p:extLst>
      <p:ext uri="{BB962C8B-B14F-4D97-AF65-F5344CB8AC3E}">
        <p14:creationId xmlns:p14="http://schemas.microsoft.com/office/powerpoint/2010/main" val="781017496"/>
      </p:ext>
    </p:extLst>
  </p:cSld>
  <p:clrMap bg1="dk1" tx1="lt1" bg2="dk2" tx2="lt2" accent1="accent1" accent2="accent2" accent3="accent3" accent4="accent4" accent5="accent5" accent6="accent6" hlink="hlink" folHlink="folHlink"/>
  <p:sldLayoutIdLst>
    <p:sldLayoutId id="2147484471" r:id="rId1"/>
    <p:sldLayoutId id="2147484472" r:id="rId2"/>
    <p:sldLayoutId id="2147484473" r:id="rId3"/>
    <p:sldLayoutId id="2147484474" r:id="rId4"/>
    <p:sldLayoutId id="2147484475" r:id="rId5"/>
    <p:sldLayoutId id="2147484476" r:id="rId6"/>
    <p:sldLayoutId id="2147484477" r:id="rId7"/>
    <p:sldLayoutId id="2147484478" r:id="rId8"/>
    <p:sldLayoutId id="2147484479" r:id="rId9"/>
    <p:sldLayoutId id="2147484480" r:id="rId10"/>
    <p:sldLayoutId id="2147484481" r:id="rId11"/>
    <p:sldLayoutId id="2147484482" r:id="rId12"/>
    <p:sldLayoutId id="2147484483" r:id="rId13"/>
    <p:sldLayoutId id="2147484484" r:id="rId14"/>
    <p:sldLayoutId id="2147484485" r:id="rId15"/>
    <p:sldLayoutId id="2147484486" r:id="rId16"/>
    <p:sldLayoutId id="214748448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EA90D1-D53F-7825-2CE2-F5F03C8EA1C5}"/>
              </a:ext>
            </a:extLst>
          </p:cNvPr>
          <p:cNvSpPr>
            <a:spLocks noGrp="1"/>
          </p:cNvSpPr>
          <p:nvPr>
            <p:ph type="ctrTitle"/>
          </p:nvPr>
        </p:nvSpPr>
        <p:spPr>
          <a:xfrm>
            <a:off x="1451983" y="1861851"/>
            <a:ext cx="7766936" cy="1443209"/>
          </a:xfrm>
        </p:spPr>
        <p:txBody>
          <a:bodyPr>
            <a:normAutofit/>
          </a:bodyPr>
          <a:lstStyle/>
          <a:p>
            <a:r>
              <a:rPr lang="en-IN" dirty="0">
                <a:latin typeface="Times New Roman" panose="02020603050405020304" pitchFamily="18" charset="0"/>
                <a:cs typeface="Times New Roman" panose="02020603050405020304" pitchFamily="18" charset="0"/>
              </a:rPr>
              <a:t>Customer Data Analysis</a:t>
            </a:r>
          </a:p>
        </p:txBody>
      </p:sp>
      <p:sp>
        <p:nvSpPr>
          <p:cNvPr id="3" name="Subtitle 2">
            <a:extLst>
              <a:ext uri="{FF2B5EF4-FFF2-40B4-BE49-F238E27FC236}">
                <a16:creationId xmlns:a16="http://schemas.microsoft.com/office/drawing/2014/main" xmlns="" id="{626D1F59-14F4-B9B0-BB9E-868595FAFFE2}"/>
              </a:ext>
            </a:extLst>
          </p:cNvPr>
          <p:cNvSpPr>
            <a:spLocks noGrp="1"/>
          </p:cNvSpPr>
          <p:nvPr>
            <p:ph type="subTitle" idx="1"/>
          </p:nvPr>
        </p:nvSpPr>
        <p:spPr>
          <a:xfrm>
            <a:off x="2275114" y="3722915"/>
            <a:ext cx="7870372" cy="2656114"/>
          </a:xfrm>
        </p:spPr>
        <p:txBody>
          <a:bodyPr>
            <a:normAutofit fontScale="77500" lnSpcReduction="20000"/>
          </a:bodyPr>
          <a:lstStyle/>
          <a:p>
            <a:pPr>
              <a:lnSpc>
                <a:spcPct val="100000"/>
              </a:lnSpc>
            </a:pPr>
            <a:r>
              <a:rPr lang="en-US" dirty="0">
                <a:latin typeface="Times New Roman" panose="02020603050405020304" pitchFamily="18" charset="0"/>
                <a:cs typeface="Times New Roman" panose="02020603050405020304" pitchFamily="18" charset="0"/>
              </a:rPr>
              <a:t>A </a:t>
            </a:r>
            <a:r>
              <a:rPr lang="en-US" sz="2700" dirty="0">
                <a:latin typeface="Times New Roman" panose="02020603050405020304" pitchFamily="18" charset="0"/>
                <a:cs typeface="Times New Roman" panose="02020603050405020304" pitchFamily="18" charset="0"/>
              </a:rPr>
              <a:t>Power BI-Based Customer Insights and Revenue Analysis project</a:t>
            </a:r>
          </a:p>
          <a:p>
            <a:pPr>
              <a:lnSpc>
                <a:spcPct val="100000"/>
              </a:lnSpc>
            </a:pPr>
            <a:r>
              <a:rPr lang="en-US" sz="2700" dirty="0">
                <a:latin typeface="Times New Roman" panose="02020603050405020304" pitchFamily="18" charset="0"/>
                <a:cs typeface="Times New Roman" panose="02020603050405020304" pitchFamily="18" charset="0"/>
              </a:rPr>
              <a:t>PRSENTED BY </a:t>
            </a:r>
          </a:p>
          <a:p>
            <a:pPr>
              <a:lnSpc>
                <a:spcPct val="100000"/>
              </a:lnSpc>
            </a:pPr>
            <a:r>
              <a:rPr lang="en-US" sz="2700" dirty="0" err="1">
                <a:latin typeface="Times New Roman" panose="02020603050405020304" pitchFamily="18" charset="0"/>
                <a:cs typeface="Times New Roman" panose="02020603050405020304" pitchFamily="18" charset="0"/>
              </a:rPr>
              <a:t>kattamreddy</a:t>
            </a:r>
            <a:r>
              <a:rPr lang="en-US" sz="2700" dirty="0">
                <a:latin typeface="Times New Roman" panose="02020603050405020304" pitchFamily="18" charset="0"/>
                <a:cs typeface="Times New Roman" panose="02020603050405020304" pitchFamily="18" charset="0"/>
              </a:rPr>
              <a:t> Jahnavi</a:t>
            </a:r>
          </a:p>
          <a:p>
            <a:pPr>
              <a:lnSpc>
                <a:spcPct val="100000"/>
              </a:lnSpc>
            </a:pPr>
            <a:r>
              <a:rPr lang="en-US" sz="2700" dirty="0" err="1">
                <a:latin typeface="Times New Roman" panose="02020603050405020304" pitchFamily="18" charset="0"/>
                <a:cs typeface="Times New Roman" panose="02020603050405020304" pitchFamily="18" charset="0"/>
              </a:rPr>
              <a:t>Eragaraju</a:t>
            </a:r>
            <a:r>
              <a:rPr lang="en-US" sz="2700" dirty="0">
                <a:latin typeface="Times New Roman" panose="02020603050405020304" pitchFamily="18" charset="0"/>
                <a:cs typeface="Times New Roman" panose="02020603050405020304" pitchFamily="18" charset="0"/>
              </a:rPr>
              <a:t> Manoj Kumar</a:t>
            </a:r>
          </a:p>
          <a:p>
            <a:pPr>
              <a:lnSpc>
                <a:spcPct val="100000"/>
              </a:lnSpc>
            </a:pPr>
            <a:r>
              <a:rPr lang="en-US" sz="2700" dirty="0">
                <a:latin typeface="Times New Roman" panose="02020603050405020304" pitchFamily="18" charset="0"/>
                <a:cs typeface="Times New Roman" panose="02020603050405020304" pitchFamily="18" charset="0"/>
              </a:rPr>
              <a:t>Bakka Vijay Raju</a:t>
            </a:r>
          </a:p>
          <a:p>
            <a:pPr>
              <a:lnSpc>
                <a:spcPct val="100000"/>
              </a:lnSpc>
            </a:pPr>
            <a:r>
              <a:rPr lang="en-US" sz="2700" dirty="0" err="1">
                <a:latin typeface="Times New Roman" panose="02020603050405020304" pitchFamily="18" charset="0"/>
                <a:cs typeface="Times New Roman" panose="02020603050405020304" pitchFamily="18" charset="0"/>
              </a:rPr>
              <a:t>Ponguru</a:t>
            </a:r>
            <a:r>
              <a:rPr lang="en-US" sz="2700" dirty="0">
                <a:latin typeface="Times New Roman" panose="02020603050405020304" pitchFamily="18" charset="0"/>
                <a:cs typeface="Times New Roman" panose="02020603050405020304" pitchFamily="18" charset="0"/>
              </a:rPr>
              <a:t> Venkata Sai Sudha </a:t>
            </a:r>
          </a:p>
          <a:p>
            <a:pPr>
              <a:lnSpc>
                <a:spcPct val="100000"/>
              </a:lnSpc>
            </a:pPr>
            <a:endParaRPr lang="en-IN" dirty="0"/>
          </a:p>
        </p:txBody>
      </p:sp>
    </p:spTree>
    <p:extLst>
      <p:ext uri="{BB962C8B-B14F-4D97-AF65-F5344CB8AC3E}">
        <p14:creationId xmlns:p14="http://schemas.microsoft.com/office/powerpoint/2010/main" val="479827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3F42B0-44E3-8D5A-7081-4FAB0F4900E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PROJECT OVERVIEW</a:t>
            </a:r>
          </a:p>
        </p:txBody>
      </p:sp>
      <p:sp>
        <p:nvSpPr>
          <p:cNvPr id="4" name="TextBox 3">
            <a:extLst>
              <a:ext uri="{FF2B5EF4-FFF2-40B4-BE49-F238E27FC236}">
                <a16:creationId xmlns:a16="http://schemas.microsoft.com/office/drawing/2014/main" xmlns="" id="{4057B4D4-1B92-D166-084D-64B7DCC1EC11}"/>
              </a:ext>
            </a:extLst>
          </p:cNvPr>
          <p:cNvSpPr txBox="1"/>
          <p:nvPr/>
        </p:nvSpPr>
        <p:spPr>
          <a:xfrm>
            <a:off x="838200" y="1690688"/>
            <a:ext cx="10482943" cy="4062651"/>
          </a:xfrm>
          <a:prstGeom prst="rect">
            <a:avLst/>
          </a:prstGeom>
          <a:noFill/>
        </p:spPr>
        <p:txBody>
          <a:bodyPr wrap="square" rtlCol="0">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Objective : </a:t>
            </a:r>
          </a:p>
          <a:p>
            <a:pPr algn="just">
              <a:lnSpc>
                <a:spcPct val="150000"/>
              </a:lnSpc>
            </a:pPr>
            <a:r>
              <a:rPr lang="en-US" dirty="0"/>
              <a:t>	</a:t>
            </a:r>
            <a:r>
              <a:rPr lang="en-US" sz="2000" dirty="0">
                <a:latin typeface="Times New Roman" panose="02020603050405020304" pitchFamily="18" charset="0"/>
                <a:cs typeface="Times New Roman" panose="02020603050405020304" pitchFamily="18" charset="0"/>
              </a:rPr>
              <a:t>To analyze customer demographics, purchase behavior, and shopping patterns using Power BI to identify key trends and support better business decisions.</a:t>
            </a:r>
          </a:p>
          <a:p>
            <a:endParaRPr lang="en-US" dirty="0"/>
          </a:p>
          <a:p>
            <a:r>
              <a:rPr lang="en-US" sz="2400" b="1" dirty="0">
                <a:latin typeface="Times New Roman" panose="02020603050405020304" pitchFamily="18" charset="0"/>
                <a:cs typeface="Times New Roman" panose="02020603050405020304" pitchFamily="18" charset="0"/>
              </a:rPr>
              <a:t>Tools Used :</a:t>
            </a:r>
          </a:p>
          <a:p>
            <a:pPr algn="just">
              <a:lnSpc>
                <a:spcPct val="150000"/>
              </a:lnSpc>
            </a:pPr>
            <a:r>
              <a:rPr lang="en-US" dirty="0"/>
              <a:t>	</a:t>
            </a:r>
            <a:r>
              <a:rPr lang="en-US" sz="2000" dirty="0">
                <a:latin typeface="Times New Roman" panose="02020603050405020304" pitchFamily="18" charset="0"/>
                <a:cs typeface="Times New Roman" panose="02020603050405020304" pitchFamily="18" charset="0"/>
              </a:rPr>
              <a:t>My SQL Workbench, Power bi</a:t>
            </a:r>
          </a:p>
          <a:p>
            <a:endParaRPr lang="en-US" dirty="0"/>
          </a:p>
          <a:p>
            <a:r>
              <a:rPr lang="en-US" sz="2400" b="1" dirty="0">
                <a:latin typeface="Times New Roman" panose="02020603050405020304" pitchFamily="18" charset="0"/>
                <a:cs typeface="Times New Roman" panose="02020603050405020304" pitchFamily="18" charset="0"/>
              </a:rPr>
              <a:t>Dataset Source : </a:t>
            </a:r>
          </a:p>
          <a:p>
            <a:pPr algn="just">
              <a:lnSpc>
                <a:spcPct val="150000"/>
              </a:lnSpc>
            </a:pPr>
            <a:r>
              <a:rPr lang="en-US" altLang="en-US" dirty="0">
                <a:latin typeface="Arial" panose="020B0604020202020204" pitchFamily="34" charset="0"/>
              </a:rPr>
              <a:t>	</a:t>
            </a:r>
            <a:r>
              <a:rPr lang="en-US" altLang="en-US" sz="2000" dirty="0" err="1">
                <a:latin typeface="Times New Roman" panose="02020603050405020304" pitchFamily="18" charset="0"/>
                <a:cs typeface="Times New Roman" panose="02020603050405020304" pitchFamily="18" charset="0"/>
              </a:rPr>
              <a:t>Projects.Datamites.Com</a:t>
            </a:r>
            <a:endParaRPr lang="en-US" altLang="en-US" sz="2000" dirty="0">
              <a:latin typeface="Times New Roman" panose="02020603050405020304" pitchFamily="18" charset="0"/>
              <a:cs typeface="Times New Roman" panose="02020603050405020304" pitchFamily="18" charset="0"/>
            </a:endParaRPr>
          </a:p>
          <a:p>
            <a:r>
              <a:rPr lang="en-IN" dirty="0"/>
              <a:t>	</a:t>
            </a:r>
          </a:p>
        </p:txBody>
      </p:sp>
    </p:spTree>
    <p:extLst>
      <p:ext uri="{BB962C8B-B14F-4D97-AF65-F5344CB8AC3E}">
        <p14:creationId xmlns:p14="http://schemas.microsoft.com/office/powerpoint/2010/main" val="3166813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086A12-938E-BAF5-DEEC-299595D8C34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Dataset Access  </a:t>
            </a:r>
          </a:p>
        </p:txBody>
      </p:sp>
      <p:sp>
        <p:nvSpPr>
          <p:cNvPr id="3" name="TextBox 2">
            <a:extLst>
              <a:ext uri="{FF2B5EF4-FFF2-40B4-BE49-F238E27FC236}">
                <a16:creationId xmlns:a16="http://schemas.microsoft.com/office/drawing/2014/main" xmlns="" id="{690DBF47-EA4A-7D25-13C3-1ADFFA3B0359}"/>
              </a:ext>
            </a:extLst>
          </p:cNvPr>
          <p:cNvSpPr txBox="1"/>
          <p:nvPr/>
        </p:nvSpPr>
        <p:spPr>
          <a:xfrm>
            <a:off x="1068636" y="1690688"/>
            <a:ext cx="10219849" cy="3785652"/>
          </a:xfrm>
          <a:prstGeom prst="rect">
            <a:avLst/>
          </a:prstGeom>
          <a:noFill/>
        </p:spPr>
        <p:txBody>
          <a:bodyPr wrap="square" rtlCol="0">
            <a:spAutoFit/>
          </a:bodyPr>
          <a:lstStyle/>
          <a:p>
            <a:pPr>
              <a:lnSpc>
                <a:spcPct val="150000"/>
              </a:lnSpc>
            </a:pPr>
            <a:r>
              <a:rPr lang="en-US" altLang="en-US" sz="2000" dirty="0">
                <a:latin typeface="Times New Roman" panose="02020603050405020304" pitchFamily="18" charset="0"/>
                <a:cs typeface="Times New Roman" panose="02020603050405020304" pitchFamily="18" charset="0"/>
              </a:rPr>
              <a:t>Accessed via MySQL Workbench</a:t>
            </a:r>
          </a:p>
          <a:p>
            <a:pPr>
              <a:lnSpc>
                <a:spcPct val="150000"/>
              </a:lnSpc>
            </a:pPr>
            <a:r>
              <a:rPr lang="en-US" altLang="en-US" sz="2000" dirty="0">
                <a:latin typeface="Times New Roman" panose="02020603050405020304" pitchFamily="18" charset="0"/>
                <a:cs typeface="Times New Roman" panose="02020603050405020304" pitchFamily="18" charset="0"/>
              </a:rPr>
              <a:t>USE </a:t>
            </a:r>
            <a:r>
              <a:rPr lang="en-US" altLang="en-US" sz="2000" dirty="0" err="1">
                <a:latin typeface="Times New Roman" panose="02020603050405020304" pitchFamily="18" charset="0"/>
                <a:cs typeface="Times New Roman" panose="02020603050405020304" pitchFamily="18" charset="0"/>
              </a:rPr>
              <a:t>project_customer_segmentation</a:t>
            </a:r>
            <a:r>
              <a:rPr lang="en-US" altLang="en-US" sz="2000" dirty="0">
                <a:latin typeface="Times New Roman" panose="02020603050405020304" pitchFamily="18" charset="0"/>
                <a:cs typeface="Times New Roman" panose="02020603050405020304" pitchFamily="18" charset="0"/>
              </a:rPr>
              <a:t>;</a:t>
            </a:r>
          </a:p>
          <a:p>
            <a:pPr>
              <a:lnSpc>
                <a:spcPct val="150000"/>
              </a:lnSpc>
            </a:pPr>
            <a:r>
              <a:rPr lang="en-US" altLang="en-US" sz="2000" dirty="0">
                <a:latin typeface="Times New Roman" panose="02020603050405020304" pitchFamily="18" charset="0"/>
                <a:cs typeface="Times New Roman" panose="02020603050405020304" pitchFamily="18" charset="0"/>
              </a:rPr>
              <a:t>SHOW DATABASES;</a:t>
            </a:r>
          </a:p>
          <a:p>
            <a:pPr>
              <a:lnSpc>
                <a:spcPct val="150000"/>
              </a:lnSpc>
            </a:pPr>
            <a:r>
              <a:rPr lang="en-US" altLang="en-US" sz="2000" dirty="0">
                <a:latin typeface="Times New Roman" panose="02020603050405020304" pitchFamily="18" charset="0"/>
                <a:cs typeface="Times New Roman" panose="02020603050405020304" pitchFamily="18" charset="0"/>
              </a:rPr>
              <a:t>Select * From customer ;</a:t>
            </a:r>
          </a:p>
          <a:p>
            <a:endParaRPr lang="en-US" altLang="en-US" dirty="0">
              <a:latin typeface="Arial" panose="020B0604020202020204" pitchFamily="34" charset="0"/>
            </a:endParaRPr>
          </a:p>
          <a:p>
            <a:r>
              <a:rPr lang="en-US" altLang="en-US" sz="2400" b="1" dirty="0">
                <a:latin typeface="Times New Roman" panose="02020603050405020304" pitchFamily="18" charset="0"/>
                <a:cs typeface="Times New Roman" panose="02020603050405020304" pitchFamily="18" charset="0"/>
              </a:rPr>
              <a:t>Columns : </a:t>
            </a:r>
          </a:p>
          <a:p>
            <a:pPr algn="just">
              <a:lnSpc>
                <a:spcPct val="150000"/>
              </a:lnSpc>
            </a:pPr>
            <a:r>
              <a:rPr lang="en-US" altLang="en-US" sz="2000" dirty="0" err="1">
                <a:latin typeface="Times New Roman" panose="02020603050405020304" pitchFamily="18" charset="0"/>
                <a:cs typeface="Times New Roman" panose="02020603050405020304" pitchFamily="18" charset="0"/>
              </a:rPr>
              <a:t>Invoice_no</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customer_id</a:t>
            </a:r>
            <a:r>
              <a:rPr lang="en-US" altLang="en-US" sz="2000" dirty="0">
                <a:latin typeface="Times New Roman" panose="02020603050405020304" pitchFamily="18" charset="0"/>
                <a:cs typeface="Times New Roman" panose="02020603050405020304" pitchFamily="18" charset="0"/>
              </a:rPr>
              <a:t>, gender, age, category, quantity, price, </a:t>
            </a:r>
            <a:r>
              <a:rPr lang="en-US" altLang="en-US" sz="2000" dirty="0" err="1">
                <a:latin typeface="Times New Roman" panose="02020603050405020304" pitchFamily="18" charset="0"/>
                <a:cs typeface="Times New Roman" panose="02020603050405020304" pitchFamily="18" charset="0"/>
              </a:rPr>
              <a:t>payment_method</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invoice_date</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shopping_mall</a:t>
            </a:r>
            <a:r>
              <a:rPr lang="en-US" altLang="en-US" sz="2000" dirty="0">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1909463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284824-B6CA-AB51-A814-00FD9BF8413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Sample Dataset</a:t>
            </a:r>
          </a:p>
        </p:txBody>
      </p:sp>
      <p:graphicFrame>
        <p:nvGraphicFramePr>
          <p:cNvPr id="4" name="Table 3">
            <a:extLst>
              <a:ext uri="{FF2B5EF4-FFF2-40B4-BE49-F238E27FC236}">
                <a16:creationId xmlns:a16="http://schemas.microsoft.com/office/drawing/2014/main" xmlns="" id="{8A89A043-BE27-8425-1B83-AFE517786155}"/>
              </a:ext>
            </a:extLst>
          </p:cNvPr>
          <p:cNvGraphicFramePr>
            <a:graphicFrameLocks noGrp="1"/>
          </p:cNvGraphicFramePr>
          <p:nvPr>
            <p:extLst>
              <p:ext uri="{D42A27DB-BD31-4B8C-83A1-F6EECF244321}">
                <p14:modId xmlns:p14="http://schemas.microsoft.com/office/powerpoint/2010/main" val="500454321"/>
              </p:ext>
            </p:extLst>
          </p:nvPr>
        </p:nvGraphicFramePr>
        <p:xfrm>
          <a:off x="718448" y="1820260"/>
          <a:ext cx="10635352" cy="4454266"/>
        </p:xfrm>
        <a:graphic>
          <a:graphicData uri="http://schemas.openxmlformats.org/drawingml/2006/table">
            <a:tbl>
              <a:tblPr firstRow="1" bandRow="1">
                <a:tableStyleId>{5940675A-B579-460E-94D1-54222C63F5DA}</a:tableStyleId>
              </a:tblPr>
              <a:tblGrid>
                <a:gridCol w="1001485">
                  <a:extLst>
                    <a:ext uri="{9D8B030D-6E8A-4147-A177-3AD203B41FA5}">
                      <a16:colId xmlns:a16="http://schemas.microsoft.com/office/drawing/2014/main" xmlns="" val="692547536"/>
                    </a:ext>
                  </a:extLst>
                </a:gridCol>
                <a:gridCol w="1132114">
                  <a:extLst>
                    <a:ext uri="{9D8B030D-6E8A-4147-A177-3AD203B41FA5}">
                      <a16:colId xmlns:a16="http://schemas.microsoft.com/office/drawing/2014/main" xmlns="" val="3320409823"/>
                    </a:ext>
                  </a:extLst>
                </a:gridCol>
                <a:gridCol w="1023258">
                  <a:extLst>
                    <a:ext uri="{9D8B030D-6E8A-4147-A177-3AD203B41FA5}">
                      <a16:colId xmlns:a16="http://schemas.microsoft.com/office/drawing/2014/main" xmlns="" val="3991286362"/>
                    </a:ext>
                  </a:extLst>
                </a:gridCol>
                <a:gridCol w="860411">
                  <a:extLst>
                    <a:ext uri="{9D8B030D-6E8A-4147-A177-3AD203B41FA5}">
                      <a16:colId xmlns:a16="http://schemas.microsoft.com/office/drawing/2014/main" xmlns="" val="3600328090"/>
                    </a:ext>
                  </a:extLst>
                </a:gridCol>
                <a:gridCol w="1103014">
                  <a:extLst>
                    <a:ext uri="{9D8B030D-6E8A-4147-A177-3AD203B41FA5}">
                      <a16:colId xmlns:a16="http://schemas.microsoft.com/office/drawing/2014/main" xmlns="" val="3768126170"/>
                    </a:ext>
                  </a:extLst>
                </a:gridCol>
                <a:gridCol w="1103014">
                  <a:extLst>
                    <a:ext uri="{9D8B030D-6E8A-4147-A177-3AD203B41FA5}">
                      <a16:colId xmlns:a16="http://schemas.microsoft.com/office/drawing/2014/main" xmlns="" val="4257223852"/>
                    </a:ext>
                  </a:extLst>
                </a:gridCol>
                <a:gridCol w="1103014">
                  <a:extLst>
                    <a:ext uri="{9D8B030D-6E8A-4147-A177-3AD203B41FA5}">
                      <a16:colId xmlns:a16="http://schemas.microsoft.com/office/drawing/2014/main" xmlns="" val="2473854895"/>
                    </a:ext>
                  </a:extLst>
                </a:gridCol>
                <a:gridCol w="1103014">
                  <a:extLst>
                    <a:ext uri="{9D8B030D-6E8A-4147-A177-3AD203B41FA5}">
                      <a16:colId xmlns:a16="http://schemas.microsoft.com/office/drawing/2014/main" xmlns="" val="543421034"/>
                    </a:ext>
                  </a:extLst>
                </a:gridCol>
                <a:gridCol w="1103014">
                  <a:extLst>
                    <a:ext uri="{9D8B030D-6E8A-4147-A177-3AD203B41FA5}">
                      <a16:colId xmlns:a16="http://schemas.microsoft.com/office/drawing/2014/main" xmlns="" val="102749956"/>
                    </a:ext>
                  </a:extLst>
                </a:gridCol>
                <a:gridCol w="1103014">
                  <a:extLst>
                    <a:ext uri="{9D8B030D-6E8A-4147-A177-3AD203B41FA5}">
                      <a16:colId xmlns:a16="http://schemas.microsoft.com/office/drawing/2014/main" xmlns="" val="3208140124"/>
                    </a:ext>
                  </a:extLst>
                </a:gridCol>
              </a:tblGrid>
              <a:tr h="705226">
                <a:tc>
                  <a:txBody>
                    <a:bodyPr/>
                    <a:lstStyle/>
                    <a:p>
                      <a:r>
                        <a:rPr lang="en-IN" dirty="0" err="1"/>
                        <a:t>Invoice_no</a:t>
                      </a:r>
                      <a:endParaRPr lang="en-IN" dirty="0"/>
                    </a:p>
                  </a:txBody>
                  <a:tcPr/>
                </a:tc>
                <a:tc>
                  <a:txBody>
                    <a:bodyPr/>
                    <a:lstStyle/>
                    <a:p>
                      <a:r>
                        <a:rPr lang="en-IN" sz="1600" dirty="0"/>
                        <a:t>Customer_id</a:t>
                      </a:r>
                    </a:p>
                  </a:txBody>
                  <a:tcPr/>
                </a:tc>
                <a:tc>
                  <a:txBody>
                    <a:bodyPr/>
                    <a:lstStyle/>
                    <a:p>
                      <a:r>
                        <a:rPr lang="en-IN" dirty="0"/>
                        <a:t>gender</a:t>
                      </a:r>
                    </a:p>
                  </a:txBody>
                  <a:tcPr/>
                </a:tc>
                <a:tc>
                  <a:txBody>
                    <a:bodyPr/>
                    <a:lstStyle/>
                    <a:p>
                      <a:r>
                        <a:rPr lang="en-IN" dirty="0"/>
                        <a:t>age</a:t>
                      </a:r>
                    </a:p>
                  </a:txBody>
                  <a:tcPr/>
                </a:tc>
                <a:tc>
                  <a:txBody>
                    <a:bodyPr/>
                    <a:lstStyle/>
                    <a:p>
                      <a:r>
                        <a:rPr lang="en-IN" dirty="0"/>
                        <a:t>category</a:t>
                      </a:r>
                    </a:p>
                  </a:txBody>
                  <a:tcPr/>
                </a:tc>
                <a:tc>
                  <a:txBody>
                    <a:bodyPr/>
                    <a:lstStyle/>
                    <a:p>
                      <a:r>
                        <a:rPr lang="en-IN" dirty="0"/>
                        <a:t>quantity</a:t>
                      </a:r>
                    </a:p>
                  </a:txBody>
                  <a:tcPr/>
                </a:tc>
                <a:tc>
                  <a:txBody>
                    <a:bodyPr/>
                    <a:lstStyle/>
                    <a:p>
                      <a:r>
                        <a:rPr lang="en-IN" dirty="0"/>
                        <a:t>price</a:t>
                      </a:r>
                    </a:p>
                  </a:txBody>
                  <a:tcPr/>
                </a:tc>
                <a:tc>
                  <a:txBody>
                    <a:bodyPr/>
                    <a:lstStyle/>
                    <a:p>
                      <a:r>
                        <a:rPr lang="en-IN" sz="1600" dirty="0" err="1"/>
                        <a:t>Payment_method</a:t>
                      </a:r>
                      <a:endParaRPr lang="en-IN" sz="1600" dirty="0"/>
                    </a:p>
                  </a:txBody>
                  <a:tcPr/>
                </a:tc>
                <a:tc>
                  <a:txBody>
                    <a:bodyPr/>
                    <a:lstStyle/>
                    <a:p>
                      <a:r>
                        <a:rPr lang="en-IN" sz="1600" dirty="0" err="1"/>
                        <a:t>Invoice_date</a:t>
                      </a:r>
                      <a:endParaRPr lang="en-IN" sz="1600" dirty="0"/>
                    </a:p>
                  </a:txBody>
                  <a:tcPr/>
                </a:tc>
                <a:tc>
                  <a:txBody>
                    <a:bodyPr/>
                    <a:lstStyle/>
                    <a:p>
                      <a:r>
                        <a:rPr lang="en-IN" sz="1600" dirty="0" err="1"/>
                        <a:t>Shopping_mall</a:t>
                      </a:r>
                      <a:endParaRPr lang="en-IN" sz="1600" dirty="0"/>
                    </a:p>
                  </a:txBody>
                  <a:tcPr/>
                </a:tc>
                <a:extLst>
                  <a:ext uri="{0D108BD9-81ED-4DB2-BD59-A6C34878D82A}">
                    <a16:rowId xmlns:a16="http://schemas.microsoft.com/office/drawing/2014/main" xmlns="" val="1758858197"/>
                  </a:ext>
                </a:extLst>
              </a:tr>
              <a:tr h="646503">
                <a:tc>
                  <a:txBody>
                    <a:bodyPr/>
                    <a:lstStyle/>
                    <a:p>
                      <a:r>
                        <a:rPr lang="en-IN" dirty="0"/>
                        <a:t>I100008</a:t>
                      </a:r>
                    </a:p>
                  </a:txBody>
                  <a:tcPr/>
                </a:tc>
                <a:tc>
                  <a:txBody>
                    <a:bodyPr/>
                    <a:lstStyle/>
                    <a:p>
                      <a:r>
                        <a:rPr lang="en-IN" dirty="0"/>
                        <a:t>C199951</a:t>
                      </a:r>
                    </a:p>
                  </a:txBody>
                  <a:tcPr/>
                </a:tc>
                <a:tc>
                  <a:txBody>
                    <a:bodyPr/>
                    <a:lstStyle/>
                    <a:p>
                      <a:r>
                        <a:rPr lang="en-IN" dirty="0"/>
                        <a:t>Male</a:t>
                      </a:r>
                    </a:p>
                  </a:txBody>
                  <a:tcPr/>
                </a:tc>
                <a:tc>
                  <a:txBody>
                    <a:bodyPr/>
                    <a:lstStyle/>
                    <a:p>
                      <a:r>
                        <a:rPr lang="en-IN" dirty="0"/>
                        <a:t>65</a:t>
                      </a:r>
                    </a:p>
                  </a:txBody>
                  <a:tcPr/>
                </a:tc>
                <a:tc>
                  <a:txBody>
                    <a:bodyPr/>
                    <a:lstStyle/>
                    <a:p>
                      <a:r>
                        <a:rPr lang="en-IN" dirty="0"/>
                        <a:t>Clothing</a:t>
                      </a:r>
                    </a:p>
                  </a:txBody>
                  <a:tcPr/>
                </a:tc>
                <a:tc>
                  <a:txBody>
                    <a:bodyPr/>
                    <a:lstStyle/>
                    <a:p>
                      <a:r>
                        <a:rPr lang="en-IN" dirty="0"/>
                        <a:t>5</a:t>
                      </a:r>
                    </a:p>
                  </a:txBody>
                  <a:tcPr/>
                </a:tc>
                <a:tc>
                  <a:txBody>
                    <a:bodyPr/>
                    <a:lstStyle/>
                    <a:p>
                      <a:r>
                        <a:rPr lang="en-IN" dirty="0"/>
                        <a:t>1500.40</a:t>
                      </a:r>
                    </a:p>
                  </a:txBody>
                  <a:tcPr/>
                </a:tc>
                <a:tc>
                  <a:txBody>
                    <a:bodyPr/>
                    <a:lstStyle/>
                    <a:p>
                      <a:r>
                        <a:rPr lang="en-IN" dirty="0"/>
                        <a:t>Cash</a:t>
                      </a:r>
                    </a:p>
                  </a:txBody>
                  <a:tcPr/>
                </a:tc>
                <a:tc>
                  <a:txBody>
                    <a:bodyPr/>
                    <a:lstStyle/>
                    <a:p>
                      <a:r>
                        <a:rPr lang="en-IN" dirty="0"/>
                        <a:t>10-07-2022</a:t>
                      </a:r>
                    </a:p>
                  </a:txBody>
                  <a:tcPr/>
                </a:tc>
                <a:tc>
                  <a:txBody>
                    <a:bodyPr/>
                    <a:lstStyle/>
                    <a:p>
                      <a:r>
                        <a:rPr lang="en-IN" dirty="0"/>
                        <a:t>Emaar Square Mall</a:t>
                      </a:r>
                    </a:p>
                  </a:txBody>
                  <a:tcPr/>
                </a:tc>
                <a:extLst>
                  <a:ext uri="{0D108BD9-81ED-4DB2-BD59-A6C34878D82A}">
                    <a16:rowId xmlns:a16="http://schemas.microsoft.com/office/drawing/2014/main" xmlns="" val="3332531975"/>
                  </a:ext>
                </a:extLst>
              </a:tr>
              <a:tr h="374561">
                <a:tc>
                  <a:txBody>
                    <a:bodyPr/>
                    <a:lstStyle/>
                    <a:p>
                      <a:r>
                        <a:rPr lang="en-IN" dirty="0"/>
                        <a:t>I100014</a:t>
                      </a:r>
                    </a:p>
                  </a:txBody>
                  <a:tcPr/>
                </a:tc>
                <a:tc>
                  <a:txBody>
                    <a:bodyPr/>
                    <a:lstStyle/>
                    <a:p>
                      <a:r>
                        <a:rPr lang="en-IN" dirty="0"/>
                        <a:t>C138893</a:t>
                      </a:r>
                    </a:p>
                  </a:txBody>
                  <a:tcPr/>
                </a:tc>
                <a:tc>
                  <a:txBody>
                    <a:bodyPr/>
                    <a:lstStyle/>
                    <a:p>
                      <a:r>
                        <a:rPr lang="en-IN" dirty="0"/>
                        <a:t>Male</a:t>
                      </a:r>
                    </a:p>
                  </a:txBody>
                  <a:tcPr/>
                </a:tc>
                <a:tc>
                  <a:txBody>
                    <a:bodyPr/>
                    <a:lstStyle/>
                    <a:p>
                      <a:r>
                        <a:rPr lang="en-IN" dirty="0"/>
                        <a:t>55</a:t>
                      </a:r>
                    </a:p>
                  </a:txBody>
                  <a:tcPr/>
                </a:tc>
                <a:tc>
                  <a:txBody>
                    <a:bodyPr/>
                    <a:lstStyle/>
                    <a:p>
                      <a:r>
                        <a:rPr lang="en-IN" dirty="0"/>
                        <a:t>Cosmetics</a:t>
                      </a:r>
                    </a:p>
                  </a:txBody>
                  <a:tcPr/>
                </a:tc>
                <a:tc>
                  <a:txBody>
                    <a:bodyPr/>
                    <a:lstStyle/>
                    <a:p>
                      <a:r>
                        <a:rPr lang="en-IN" dirty="0"/>
                        <a:t>5</a:t>
                      </a:r>
                    </a:p>
                  </a:txBody>
                  <a:tcPr/>
                </a:tc>
                <a:tc>
                  <a:txBody>
                    <a:bodyPr/>
                    <a:lstStyle/>
                    <a:p>
                      <a:r>
                        <a:rPr lang="en-IN" dirty="0"/>
                        <a:t>203.30</a:t>
                      </a:r>
                    </a:p>
                  </a:txBody>
                  <a:tcPr/>
                </a:tc>
                <a:tc>
                  <a:txBody>
                    <a:bodyPr/>
                    <a:lstStyle/>
                    <a:p>
                      <a:r>
                        <a:rPr lang="en-IN" dirty="0"/>
                        <a:t>cash</a:t>
                      </a:r>
                    </a:p>
                  </a:txBody>
                  <a:tcPr/>
                </a:tc>
                <a:tc>
                  <a:txBody>
                    <a:bodyPr/>
                    <a:lstStyle/>
                    <a:p>
                      <a:r>
                        <a:rPr lang="en-IN" dirty="0"/>
                        <a:t>18-06-2021</a:t>
                      </a:r>
                    </a:p>
                  </a:txBody>
                  <a:tcPr/>
                </a:tc>
                <a:tc>
                  <a:txBody>
                    <a:bodyPr/>
                    <a:lstStyle/>
                    <a:p>
                      <a:r>
                        <a:rPr lang="en-IN" dirty="0" err="1"/>
                        <a:t>Viaport</a:t>
                      </a:r>
                      <a:r>
                        <a:rPr lang="en-IN" dirty="0"/>
                        <a:t> Outlet</a:t>
                      </a:r>
                    </a:p>
                  </a:txBody>
                  <a:tcPr/>
                </a:tc>
                <a:extLst>
                  <a:ext uri="{0D108BD9-81ED-4DB2-BD59-A6C34878D82A}">
                    <a16:rowId xmlns:a16="http://schemas.microsoft.com/office/drawing/2014/main" xmlns="" val="3817464099"/>
                  </a:ext>
                </a:extLst>
              </a:tr>
              <a:tr h="374561">
                <a:tc>
                  <a:txBody>
                    <a:bodyPr/>
                    <a:lstStyle/>
                    <a:p>
                      <a:r>
                        <a:rPr lang="en-IN" dirty="0"/>
                        <a:t>I100015</a:t>
                      </a:r>
                    </a:p>
                  </a:txBody>
                  <a:tcPr/>
                </a:tc>
                <a:tc>
                  <a:txBody>
                    <a:bodyPr/>
                    <a:lstStyle/>
                    <a:p>
                      <a:r>
                        <a:rPr lang="en-IN" dirty="0"/>
                        <a:t>C132779</a:t>
                      </a:r>
                    </a:p>
                  </a:txBody>
                  <a:tcPr/>
                </a:tc>
                <a:tc>
                  <a:txBody>
                    <a:bodyPr/>
                    <a:lstStyle/>
                    <a:p>
                      <a:r>
                        <a:rPr lang="en-IN" dirty="0"/>
                        <a:t>Female</a:t>
                      </a:r>
                    </a:p>
                  </a:txBody>
                  <a:tcPr/>
                </a:tc>
                <a:tc>
                  <a:txBody>
                    <a:bodyPr/>
                    <a:lstStyle/>
                    <a:p>
                      <a:r>
                        <a:rPr lang="en-IN" dirty="0"/>
                        <a:t>35</a:t>
                      </a:r>
                    </a:p>
                  </a:txBody>
                  <a:tcPr/>
                </a:tc>
                <a:tc>
                  <a:txBody>
                    <a:bodyPr/>
                    <a:lstStyle/>
                    <a:p>
                      <a:r>
                        <a:rPr lang="en-IN" dirty="0"/>
                        <a:t>Clothing</a:t>
                      </a:r>
                    </a:p>
                  </a:txBody>
                  <a:tcPr/>
                </a:tc>
                <a:tc>
                  <a:txBody>
                    <a:bodyPr/>
                    <a:lstStyle/>
                    <a:p>
                      <a:r>
                        <a:rPr lang="en-IN" dirty="0"/>
                        <a:t>2</a:t>
                      </a:r>
                    </a:p>
                  </a:txBody>
                  <a:tcPr/>
                </a:tc>
                <a:tc>
                  <a:txBody>
                    <a:bodyPr/>
                    <a:lstStyle/>
                    <a:p>
                      <a:r>
                        <a:rPr lang="en-IN" dirty="0"/>
                        <a:t>600.16</a:t>
                      </a:r>
                    </a:p>
                  </a:txBody>
                  <a:tcPr/>
                </a:tc>
                <a:tc>
                  <a:txBody>
                    <a:bodyPr/>
                    <a:lstStyle/>
                    <a:p>
                      <a:r>
                        <a:rPr lang="en-IN" dirty="0"/>
                        <a:t>Debit Card</a:t>
                      </a:r>
                    </a:p>
                  </a:txBody>
                  <a:tcPr/>
                </a:tc>
                <a:tc>
                  <a:txBody>
                    <a:bodyPr/>
                    <a:lstStyle/>
                    <a:p>
                      <a:r>
                        <a:rPr lang="en-IN" dirty="0"/>
                        <a:t>04-03-2021</a:t>
                      </a:r>
                    </a:p>
                  </a:txBody>
                  <a:tcPr/>
                </a:tc>
                <a:tc>
                  <a:txBody>
                    <a:bodyPr/>
                    <a:lstStyle/>
                    <a:p>
                      <a:r>
                        <a:rPr lang="en-IN" dirty="0"/>
                        <a:t>Mall of Istanbul</a:t>
                      </a:r>
                    </a:p>
                  </a:txBody>
                  <a:tcPr/>
                </a:tc>
                <a:extLst>
                  <a:ext uri="{0D108BD9-81ED-4DB2-BD59-A6C34878D82A}">
                    <a16:rowId xmlns:a16="http://schemas.microsoft.com/office/drawing/2014/main" xmlns="" val="513565512"/>
                  </a:ext>
                </a:extLst>
              </a:tr>
              <a:tr h="374561">
                <a:tc>
                  <a:txBody>
                    <a:bodyPr/>
                    <a:lstStyle/>
                    <a:p>
                      <a:r>
                        <a:rPr lang="en-IN" dirty="0"/>
                        <a:t>I100024</a:t>
                      </a:r>
                    </a:p>
                  </a:txBody>
                  <a:tcPr/>
                </a:tc>
                <a:tc>
                  <a:txBody>
                    <a:bodyPr/>
                    <a:lstStyle/>
                    <a:p>
                      <a:r>
                        <a:rPr lang="en-IN" dirty="0"/>
                        <a:t>C244411</a:t>
                      </a:r>
                    </a:p>
                  </a:txBody>
                  <a:tcPr/>
                </a:tc>
                <a:tc>
                  <a:txBody>
                    <a:bodyPr/>
                    <a:lstStyle/>
                    <a:p>
                      <a:r>
                        <a:rPr lang="en-IN" dirty="0"/>
                        <a:t>Female</a:t>
                      </a:r>
                    </a:p>
                  </a:txBody>
                  <a:tcPr/>
                </a:tc>
                <a:tc>
                  <a:txBody>
                    <a:bodyPr/>
                    <a:lstStyle/>
                    <a:p>
                      <a:r>
                        <a:rPr lang="en-IN" dirty="0"/>
                        <a:t>67</a:t>
                      </a:r>
                    </a:p>
                  </a:txBody>
                  <a:tcPr/>
                </a:tc>
                <a:tc>
                  <a:txBody>
                    <a:bodyPr/>
                    <a:lstStyle/>
                    <a:p>
                      <a:r>
                        <a:rPr lang="en-IN" dirty="0"/>
                        <a:t>Books</a:t>
                      </a:r>
                    </a:p>
                  </a:txBody>
                  <a:tcPr/>
                </a:tc>
                <a:tc>
                  <a:txBody>
                    <a:bodyPr/>
                    <a:lstStyle/>
                    <a:p>
                      <a:r>
                        <a:rPr lang="en-IN" dirty="0"/>
                        <a:t>3</a:t>
                      </a:r>
                    </a:p>
                  </a:txBody>
                  <a:tcPr/>
                </a:tc>
                <a:tc>
                  <a:txBody>
                    <a:bodyPr/>
                    <a:lstStyle/>
                    <a:p>
                      <a:r>
                        <a:rPr lang="en-IN" dirty="0"/>
                        <a:t>45.45</a:t>
                      </a:r>
                    </a:p>
                  </a:txBody>
                  <a:tcPr/>
                </a:tc>
                <a:tc>
                  <a:txBody>
                    <a:bodyPr/>
                    <a:lstStyle/>
                    <a:p>
                      <a:r>
                        <a:rPr lang="en-IN" dirty="0"/>
                        <a:t>Credit card</a:t>
                      </a:r>
                    </a:p>
                  </a:txBody>
                  <a:tcPr/>
                </a:tc>
                <a:tc>
                  <a:txBody>
                    <a:bodyPr/>
                    <a:lstStyle/>
                    <a:p>
                      <a:r>
                        <a:rPr lang="en-IN" dirty="0"/>
                        <a:t>05-01-2023</a:t>
                      </a:r>
                    </a:p>
                  </a:txBody>
                  <a:tcPr/>
                </a:tc>
                <a:tc>
                  <a:txBody>
                    <a:bodyPr/>
                    <a:lstStyle/>
                    <a:p>
                      <a:r>
                        <a:rPr lang="en-IN" dirty="0"/>
                        <a:t>Emaar Square Mall</a:t>
                      </a:r>
                    </a:p>
                  </a:txBody>
                  <a:tcPr/>
                </a:tc>
                <a:extLst>
                  <a:ext uri="{0D108BD9-81ED-4DB2-BD59-A6C34878D82A}">
                    <a16:rowId xmlns:a16="http://schemas.microsoft.com/office/drawing/2014/main" xmlns="" val="3298546985"/>
                  </a:ext>
                </a:extLst>
              </a:tr>
              <a:tr h="374561">
                <a:tc>
                  <a:txBody>
                    <a:bodyPr/>
                    <a:lstStyle/>
                    <a:p>
                      <a:r>
                        <a:rPr lang="en-IN" dirty="0"/>
                        <a:t>I100027</a:t>
                      </a:r>
                    </a:p>
                  </a:txBody>
                  <a:tcPr/>
                </a:tc>
                <a:tc>
                  <a:txBody>
                    <a:bodyPr/>
                    <a:lstStyle/>
                    <a:p>
                      <a:r>
                        <a:rPr lang="en-IN" dirty="0"/>
                        <a:t>C150002</a:t>
                      </a:r>
                    </a:p>
                  </a:txBody>
                  <a:tcPr/>
                </a:tc>
                <a:tc>
                  <a:txBody>
                    <a:bodyPr/>
                    <a:lstStyle/>
                    <a:p>
                      <a:r>
                        <a:rPr lang="en-IN" dirty="0"/>
                        <a:t>Female</a:t>
                      </a:r>
                    </a:p>
                  </a:txBody>
                  <a:tcPr/>
                </a:tc>
                <a:tc>
                  <a:txBody>
                    <a:bodyPr/>
                    <a:lstStyle/>
                    <a:p>
                      <a:r>
                        <a:rPr lang="en-IN" dirty="0"/>
                        <a:t>19</a:t>
                      </a:r>
                    </a:p>
                  </a:txBody>
                  <a:tcPr/>
                </a:tc>
                <a:tc>
                  <a:txBody>
                    <a:bodyPr/>
                    <a:lstStyle/>
                    <a:p>
                      <a:r>
                        <a:rPr lang="en-IN" dirty="0"/>
                        <a:t>Technology</a:t>
                      </a:r>
                    </a:p>
                  </a:txBody>
                  <a:tcPr/>
                </a:tc>
                <a:tc>
                  <a:txBody>
                    <a:bodyPr/>
                    <a:lstStyle/>
                    <a:p>
                      <a:r>
                        <a:rPr lang="en-IN" dirty="0"/>
                        <a:t>4</a:t>
                      </a:r>
                    </a:p>
                  </a:txBody>
                  <a:tcPr/>
                </a:tc>
                <a:tc>
                  <a:txBody>
                    <a:bodyPr/>
                    <a:lstStyle/>
                    <a:p>
                      <a:r>
                        <a:rPr lang="en-IN" dirty="0"/>
                        <a:t>4200.00</a:t>
                      </a:r>
                    </a:p>
                  </a:txBody>
                  <a:tcPr/>
                </a:tc>
                <a:tc>
                  <a:txBody>
                    <a:bodyPr/>
                    <a:lstStyle/>
                    <a:p>
                      <a:r>
                        <a:rPr lang="en-IN" dirty="0"/>
                        <a:t>Cash</a:t>
                      </a:r>
                    </a:p>
                  </a:txBody>
                  <a:tcPr/>
                </a:tc>
                <a:tc>
                  <a:txBody>
                    <a:bodyPr/>
                    <a:lstStyle/>
                    <a:p>
                      <a:r>
                        <a:rPr lang="en-IN" dirty="0"/>
                        <a:t>18-05-2022</a:t>
                      </a:r>
                    </a:p>
                  </a:txBody>
                  <a:tcPr/>
                </a:tc>
                <a:tc>
                  <a:txBody>
                    <a:bodyPr/>
                    <a:lstStyle/>
                    <a:p>
                      <a:r>
                        <a:rPr lang="en-IN" dirty="0"/>
                        <a:t>Mall of Istanbul</a:t>
                      </a:r>
                    </a:p>
                  </a:txBody>
                  <a:tcPr/>
                </a:tc>
                <a:extLst>
                  <a:ext uri="{0D108BD9-81ED-4DB2-BD59-A6C34878D82A}">
                    <a16:rowId xmlns:a16="http://schemas.microsoft.com/office/drawing/2014/main" xmlns="" val="2934214215"/>
                  </a:ext>
                </a:extLst>
              </a:tr>
            </a:tbl>
          </a:graphicData>
        </a:graphic>
      </p:graphicFrame>
    </p:spTree>
    <p:extLst>
      <p:ext uri="{BB962C8B-B14F-4D97-AF65-F5344CB8AC3E}">
        <p14:creationId xmlns:p14="http://schemas.microsoft.com/office/powerpoint/2010/main" val="4007733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6B81D9-21A0-470A-60C1-E8F337985A03}"/>
              </a:ext>
            </a:extLst>
          </p:cNvPr>
          <p:cNvSpPr>
            <a:spLocks noGrp="1"/>
          </p:cNvSpPr>
          <p:nvPr>
            <p:ph type="title"/>
          </p:nvPr>
        </p:nvSpPr>
        <p:spPr>
          <a:xfrm>
            <a:off x="838200" y="365125"/>
            <a:ext cx="10515600" cy="1278617"/>
          </a:xfrm>
        </p:spPr>
        <p:txBody>
          <a:bodyPr/>
          <a:lstStyle/>
          <a:p>
            <a:r>
              <a:rPr lang="en-IN" dirty="0">
                <a:latin typeface="Times New Roman" panose="02020603050405020304" pitchFamily="18" charset="0"/>
                <a:cs typeface="Times New Roman" panose="02020603050405020304" pitchFamily="18" charset="0"/>
              </a:rPr>
              <a:t>Additional Columns Added </a:t>
            </a:r>
          </a:p>
        </p:txBody>
      </p:sp>
      <p:sp>
        <p:nvSpPr>
          <p:cNvPr id="4" name="TextBox 3">
            <a:extLst>
              <a:ext uri="{FF2B5EF4-FFF2-40B4-BE49-F238E27FC236}">
                <a16:creationId xmlns:a16="http://schemas.microsoft.com/office/drawing/2014/main" xmlns="" id="{2BFFB7A3-DAF1-CF77-9D7E-7599DFDF0C5A}"/>
              </a:ext>
            </a:extLst>
          </p:cNvPr>
          <p:cNvSpPr txBox="1"/>
          <p:nvPr/>
        </p:nvSpPr>
        <p:spPr>
          <a:xfrm>
            <a:off x="919842" y="1643742"/>
            <a:ext cx="10352315" cy="4985980"/>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Total Revenue (Calculated Column)</a:t>
            </a:r>
          </a:p>
          <a:p>
            <a:pPr>
              <a:lnSpc>
                <a:spcPct val="150000"/>
              </a:lnSpc>
            </a:pPr>
            <a:r>
              <a:rPr lang="en-US" sz="2000" dirty="0">
                <a:latin typeface="Times New Roman" panose="02020603050405020304" pitchFamily="18" charset="0"/>
                <a:cs typeface="Times New Roman" panose="02020603050405020304" pitchFamily="18" charset="0"/>
              </a:rPr>
              <a:t>The dataset contained Price and Quantity, but not the total amount spent.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To measure spending, a new column was created:</a:t>
            </a:r>
          </a:p>
          <a:p>
            <a:pPr>
              <a:lnSpc>
                <a:spcPct val="150000"/>
              </a:lnSpc>
            </a:pPr>
            <a:r>
              <a:rPr lang="en-US" sz="2000" b="1" dirty="0">
                <a:latin typeface="Times New Roman" panose="02020603050405020304" pitchFamily="18" charset="0"/>
                <a:cs typeface="Times New Roman" panose="02020603050405020304" pitchFamily="18" charset="0"/>
              </a:rPr>
              <a:t>Formula:</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Total Revenue = Price × Quantity</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Purpose:</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Calculate spending per transaction</a:t>
            </a:r>
          </a:p>
          <a:p>
            <a:pPr>
              <a:lnSpc>
                <a:spcPct val="150000"/>
              </a:lnSpc>
            </a:pPr>
            <a:r>
              <a:rPr lang="en-US" sz="2000" dirty="0">
                <a:latin typeface="Times New Roman" panose="02020603050405020304" pitchFamily="18" charset="0"/>
                <a:cs typeface="Times New Roman" panose="02020603050405020304" pitchFamily="18" charset="0"/>
              </a:rPr>
              <a:t>Build KPIs</a:t>
            </a:r>
          </a:p>
          <a:p>
            <a:pPr>
              <a:lnSpc>
                <a:spcPct val="150000"/>
              </a:lnSpc>
            </a:pPr>
            <a:r>
              <a:rPr lang="en-US" sz="2000" dirty="0">
                <a:latin typeface="Times New Roman" panose="02020603050405020304" pitchFamily="18" charset="0"/>
                <a:cs typeface="Times New Roman" panose="02020603050405020304" pitchFamily="18" charset="0"/>
              </a:rPr>
              <a:t>Compare revenue across gender, age, category, mall, and payment method</a:t>
            </a:r>
          </a:p>
          <a:p>
            <a:pPr>
              <a:lnSpc>
                <a:spcPct val="150000"/>
              </a:lnSpc>
            </a:pPr>
            <a:r>
              <a:rPr lang="en-US" sz="2000" dirty="0">
                <a:latin typeface="Times New Roman" panose="02020603050405020304" pitchFamily="18" charset="0"/>
                <a:cs typeface="Times New Roman" panose="02020603050405020304" pitchFamily="18" charset="0"/>
              </a:rPr>
              <a:t>Answer revenue-related tasks in the project</a:t>
            </a:r>
          </a:p>
          <a:p>
            <a:endParaRPr lang="en-IN" dirty="0"/>
          </a:p>
        </p:txBody>
      </p:sp>
    </p:spTree>
    <p:extLst>
      <p:ext uri="{BB962C8B-B14F-4D97-AF65-F5344CB8AC3E}">
        <p14:creationId xmlns:p14="http://schemas.microsoft.com/office/powerpoint/2010/main" val="3253173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F86FBFD9-A73B-797D-6985-8C846931E21D}"/>
              </a:ext>
            </a:extLst>
          </p:cNvPr>
          <p:cNvSpPr txBox="1"/>
          <p:nvPr/>
        </p:nvSpPr>
        <p:spPr>
          <a:xfrm>
            <a:off x="923319" y="340474"/>
            <a:ext cx="10038465" cy="6370975"/>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Age Group (Calculated Column)</a:t>
            </a:r>
          </a:p>
          <a:p>
            <a:pPr algn="just">
              <a:lnSpc>
                <a:spcPct val="150000"/>
              </a:lnSpc>
            </a:pPr>
            <a:r>
              <a:rPr lang="en-US" sz="2000" dirty="0">
                <a:latin typeface="Times New Roman" panose="02020603050405020304" pitchFamily="18" charset="0"/>
                <a:cs typeface="Times New Roman" panose="02020603050405020304" pitchFamily="18" charset="0"/>
              </a:rPr>
              <a:t>To analyze customer demographics effectively, the numeric Age column was converted into meaningful Age Groups. This helps compare customer behavior across different age ranges.</a:t>
            </a:r>
          </a:p>
          <a:p>
            <a:pPr>
              <a:lnSpc>
                <a:spcPct val="150000"/>
              </a:lnSpc>
            </a:pPr>
            <a:r>
              <a:rPr lang="en-US" sz="2000" b="1" dirty="0">
                <a:latin typeface="Times New Roman" panose="02020603050405020304" pitchFamily="18" charset="0"/>
                <a:cs typeface="Times New Roman" panose="02020603050405020304" pitchFamily="18" charset="0"/>
              </a:rPr>
              <a:t>Age Grouping Logic:</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0–20</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21–30</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31–40</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41–50</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51–60</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60+</a:t>
            </a:r>
          </a:p>
          <a:p>
            <a:pPr>
              <a:lnSpc>
                <a:spcPct val="150000"/>
              </a:lnSpc>
            </a:pPr>
            <a:r>
              <a:rPr lang="en-US" sz="2000" b="1" dirty="0">
                <a:latin typeface="Times New Roman" panose="02020603050405020304" pitchFamily="18" charset="0"/>
                <a:cs typeface="Times New Roman" panose="02020603050405020304" pitchFamily="18" charset="0"/>
              </a:rPr>
              <a:t>Purpose:</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Understand which age group buys more</a:t>
            </a:r>
          </a:p>
          <a:p>
            <a:pPr>
              <a:lnSpc>
                <a:spcPct val="150000"/>
              </a:lnSpc>
            </a:pPr>
            <a:r>
              <a:rPr lang="en-US" sz="2000" dirty="0">
                <a:latin typeface="Times New Roman" panose="02020603050405020304" pitchFamily="18" charset="0"/>
                <a:cs typeface="Times New Roman" panose="02020603050405020304" pitchFamily="18" charset="0"/>
              </a:rPr>
              <a:t>Analyze revenue by age</a:t>
            </a:r>
          </a:p>
          <a:p>
            <a:pPr>
              <a:lnSpc>
                <a:spcPct val="150000"/>
              </a:lnSpc>
            </a:pPr>
            <a:r>
              <a:rPr lang="en-US" sz="2000" dirty="0">
                <a:latin typeface="Times New Roman" panose="02020603050405020304" pitchFamily="18" charset="0"/>
                <a:cs typeface="Times New Roman" panose="02020603050405020304" pitchFamily="18" charset="0"/>
              </a:rPr>
              <a:t>Create age-based visuals and insights</a:t>
            </a:r>
          </a:p>
          <a:p>
            <a:pPr>
              <a:lnSpc>
                <a:spcPct val="150000"/>
              </a:lnSpc>
            </a:pPr>
            <a:r>
              <a:rPr lang="en-US" sz="2000" dirty="0">
                <a:latin typeface="Times New Roman" panose="02020603050405020304" pitchFamily="18" charset="0"/>
                <a:cs typeface="Times New Roman" panose="02020603050405020304" pitchFamily="18" charset="0"/>
              </a:rPr>
              <a:t>Answer project tasks related to age patterns</a:t>
            </a:r>
          </a:p>
          <a:p>
            <a:endParaRPr lang="en-IN" dirty="0"/>
          </a:p>
        </p:txBody>
      </p:sp>
    </p:spTree>
    <p:extLst>
      <p:ext uri="{BB962C8B-B14F-4D97-AF65-F5344CB8AC3E}">
        <p14:creationId xmlns:p14="http://schemas.microsoft.com/office/powerpoint/2010/main" val="1896462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BF0DD2-A3DB-CAF1-FFB1-EF760878ACC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Cleaning &amp; Preparation</a:t>
            </a:r>
          </a:p>
        </p:txBody>
      </p:sp>
      <p:sp>
        <p:nvSpPr>
          <p:cNvPr id="4" name="TextBox 3">
            <a:extLst>
              <a:ext uri="{FF2B5EF4-FFF2-40B4-BE49-F238E27FC236}">
                <a16:creationId xmlns:a16="http://schemas.microsoft.com/office/drawing/2014/main" xmlns="" id="{07F2B772-2102-17DF-96A0-AC549D26B135}"/>
              </a:ext>
            </a:extLst>
          </p:cNvPr>
          <p:cNvSpPr txBox="1"/>
          <p:nvPr/>
        </p:nvSpPr>
        <p:spPr>
          <a:xfrm>
            <a:off x="838200" y="1824341"/>
            <a:ext cx="10363200" cy="3693319"/>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Data Cleaning Steps :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Checked for null/missing values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Corrected data types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Removed duplicates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Standardized text (Gender, Category, Payment Method)</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Verified numeric columns (Price, Quantity)</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Ensured new columns (Age Group, Revenue) were accurate</a:t>
            </a:r>
          </a:p>
          <a:p>
            <a:endParaRPr lang="en-IN" dirty="0"/>
          </a:p>
        </p:txBody>
      </p:sp>
    </p:spTree>
    <p:extLst>
      <p:ext uri="{BB962C8B-B14F-4D97-AF65-F5344CB8AC3E}">
        <p14:creationId xmlns:p14="http://schemas.microsoft.com/office/powerpoint/2010/main" val="2875884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B42889-38F8-BAC7-327D-26F1A823A4A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Key Insights : Gender</a:t>
            </a:r>
          </a:p>
        </p:txBody>
      </p:sp>
      <p:sp>
        <p:nvSpPr>
          <p:cNvPr id="4" name="TextBox 3">
            <a:extLst>
              <a:ext uri="{FF2B5EF4-FFF2-40B4-BE49-F238E27FC236}">
                <a16:creationId xmlns:a16="http://schemas.microsoft.com/office/drawing/2014/main" xmlns="" id="{E6B38E5B-2A30-2FB5-8781-06F3C05AAB08}"/>
              </a:ext>
            </a:extLst>
          </p:cNvPr>
          <p:cNvSpPr txBox="1"/>
          <p:nvPr/>
        </p:nvSpPr>
        <p:spPr>
          <a:xfrm>
            <a:off x="761082" y="1796004"/>
            <a:ext cx="9859178" cy="1883657"/>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Male and Female customers show balanced shopping patterns.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Female customers account for slightly higher total revenue.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Male customers purchase more quantity overall.</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Payment preference: Credit Card &gt; Cash &gt; Debit Card.</a:t>
            </a:r>
          </a:p>
        </p:txBody>
      </p:sp>
    </p:spTree>
    <p:extLst>
      <p:ext uri="{BB962C8B-B14F-4D97-AF65-F5344CB8AC3E}">
        <p14:creationId xmlns:p14="http://schemas.microsoft.com/office/powerpoint/2010/main" val="3644308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BE32F4-4B82-5162-356C-25D96423B31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Key Insights : Age Group</a:t>
            </a:r>
            <a:endParaRPr lang="en-IN" dirty="0"/>
          </a:p>
        </p:txBody>
      </p:sp>
      <p:sp>
        <p:nvSpPr>
          <p:cNvPr id="4" name="TextBox 3">
            <a:extLst>
              <a:ext uri="{FF2B5EF4-FFF2-40B4-BE49-F238E27FC236}">
                <a16:creationId xmlns:a16="http://schemas.microsoft.com/office/drawing/2014/main" xmlns="" id="{1E412A8A-4CBB-47AF-7D7B-A7F639B31EB8}"/>
              </a:ext>
            </a:extLst>
          </p:cNvPr>
          <p:cNvSpPr txBox="1"/>
          <p:nvPr/>
        </p:nvSpPr>
        <p:spPr>
          <a:xfrm>
            <a:off x="838199" y="1866824"/>
            <a:ext cx="9308335" cy="1883657"/>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Age group 21-30 contributes the highest revenue.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Older groups (41-50 and 51-60) show consistent spending patterns.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Quantity purchased decreases with increasing age.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Younger age groups prefer online shopping malls more.</a:t>
            </a:r>
          </a:p>
        </p:txBody>
      </p:sp>
    </p:spTree>
    <p:extLst>
      <p:ext uri="{BB962C8B-B14F-4D97-AF65-F5344CB8AC3E}">
        <p14:creationId xmlns:p14="http://schemas.microsoft.com/office/powerpoint/2010/main" val="927230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8A3EE5-90CE-F63D-CF6E-F2CD35C1992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Category and Payment Insights : </a:t>
            </a:r>
          </a:p>
        </p:txBody>
      </p:sp>
      <p:sp>
        <p:nvSpPr>
          <p:cNvPr id="4" name="TextBox 3">
            <a:extLst>
              <a:ext uri="{FF2B5EF4-FFF2-40B4-BE49-F238E27FC236}">
                <a16:creationId xmlns:a16="http://schemas.microsoft.com/office/drawing/2014/main" xmlns="" id="{1FED8EB4-614F-2D7B-ECE9-ABBA930EAD8B}"/>
              </a:ext>
            </a:extLst>
          </p:cNvPr>
          <p:cNvSpPr txBox="1"/>
          <p:nvPr/>
        </p:nvSpPr>
        <p:spPr>
          <a:xfrm>
            <a:off x="838199" y="1872868"/>
            <a:ext cx="9385453" cy="1884298"/>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Clothing, Cosmetics, and Food &amp; Beverages are the top-selling categories.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Credit card is the most used payment method across all age groups.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Categories show different trends based on age and gender.</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Shopping mall revenue varies significantly, indicating customer preferences</a:t>
            </a:r>
            <a:r>
              <a:rPr lang="en-US" dirty="0"/>
              <a:t>.</a:t>
            </a:r>
          </a:p>
        </p:txBody>
      </p:sp>
    </p:spTree>
    <p:extLst>
      <p:ext uri="{BB962C8B-B14F-4D97-AF65-F5344CB8AC3E}">
        <p14:creationId xmlns:p14="http://schemas.microsoft.com/office/powerpoint/2010/main" val="4246504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1ED0D62B-ABB3-BFB7-3DFB-2EBFB5F6353E}"/>
              </a:ext>
            </a:extLst>
          </p:cNvPr>
          <p:cNvSpPr txBox="1"/>
          <p:nvPr/>
        </p:nvSpPr>
        <p:spPr>
          <a:xfrm>
            <a:off x="1045029" y="1045029"/>
            <a:ext cx="10167257" cy="141577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Task – 1 : How is the shopping distribution according to gender</a:t>
            </a:r>
          </a:p>
          <a:p>
            <a:endParaRPr lang="en-US" sz="24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graph displays the share of male and female customers using percentages.</a:t>
            </a:r>
          </a:p>
          <a:p>
            <a:endParaRPr lang="en-IN" dirty="0"/>
          </a:p>
        </p:txBody>
      </p:sp>
      <p:sp>
        <p:nvSpPr>
          <p:cNvPr id="11" name="TextBox 10">
            <a:extLst>
              <a:ext uri="{FF2B5EF4-FFF2-40B4-BE49-F238E27FC236}">
                <a16:creationId xmlns:a16="http://schemas.microsoft.com/office/drawing/2014/main" xmlns="" id="{7550D9E7-D666-00F5-E28C-2E6B206A8BED}"/>
              </a:ext>
            </a:extLst>
          </p:cNvPr>
          <p:cNvSpPr txBox="1"/>
          <p:nvPr/>
        </p:nvSpPr>
        <p:spPr>
          <a:xfrm>
            <a:off x="1045029" y="2181806"/>
            <a:ext cx="6520542" cy="3730317"/>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Explanation:</a:t>
            </a:r>
          </a:p>
          <a:p>
            <a:pPr algn="just">
              <a:lnSpc>
                <a:spcPct val="150000"/>
              </a:lnSpc>
            </a:pPr>
            <a:r>
              <a:rPr lang="en-US" sz="2000" dirty="0">
                <a:latin typeface="Times New Roman" panose="02020603050405020304" pitchFamily="18" charset="0"/>
                <a:cs typeface="Times New Roman" panose="02020603050405020304" pitchFamily="18" charset="0"/>
              </a:rPr>
              <a:t>The pie chart shows that female customers are slightly higher than male customers. This means more females are shopping compared to males. The difference is small but noticeable. The larger portion in the pie clearly indicates that females form the majority of the customer base.</a:t>
            </a:r>
          </a:p>
          <a:p>
            <a:pPr algn="just">
              <a:lnSpc>
                <a:spcPct val="150000"/>
              </a:lnSpc>
            </a:pPr>
            <a:r>
              <a:rPr lang="en-US" sz="2000" b="1" dirty="0">
                <a:latin typeface="Times New Roman" panose="02020603050405020304" pitchFamily="18" charset="0"/>
                <a:cs typeface="Times New Roman" panose="02020603050405020304" pitchFamily="18" charset="0"/>
              </a:rPr>
              <a:t>Conclusion:</a:t>
            </a:r>
          </a:p>
          <a:p>
            <a:pPr algn="just">
              <a:lnSpc>
                <a:spcPct val="150000"/>
              </a:lnSpc>
            </a:pPr>
            <a:r>
              <a:rPr lang="en-US" sz="2000" b="1" dirty="0">
                <a:latin typeface="Times New Roman" panose="02020603050405020304" pitchFamily="18" charset="0"/>
                <a:cs typeface="Times New Roman" panose="02020603050405020304" pitchFamily="18" charset="0"/>
              </a:rPr>
              <a:t>Female customers shop more than male customers.</a:t>
            </a:r>
            <a:endParaRPr lang="en-US"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503ECD15-5DF5-51FE-CF26-8C88432B57E6}"/>
              </a:ext>
            </a:extLst>
          </p:cNvPr>
          <p:cNvSpPr txBox="1"/>
          <p:nvPr/>
        </p:nvSpPr>
        <p:spPr>
          <a:xfrm>
            <a:off x="1197430" y="4126237"/>
            <a:ext cx="9448800" cy="369332"/>
          </a:xfrm>
          <a:prstGeom prst="rect">
            <a:avLst/>
          </a:prstGeom>
          <a:noFill/>
        </p:spPr>
        <p:txBody>
          <a:bodyPr wrap="square" rtlCol="0">
            <a:spAutoFit/>
          </a:bodyPr>
          <a:lstStyle/>
          <a:p>
            <a:endParaRPr lang="en-US" dirty="0"/>
          </a:p>
        </p:txBody>
      </p:sp>
      <p:pic>
        <p:nvPicPr>
          <p:cNvPr id="6" name="Picture 5">
            <a:extLst>
              <a:ext uri="{FF2B5EF4-FFF2-40B4-BE49-F238E27FC236}">
                <a16:creationId xmlns:a16="http://schemas.microsoft.com/office/drawing/2014/main" xmlns="" id="{60E15093-698A-BC4B-E8EA-2CF9DD7EED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37506" y="2868426"/>
            <a:ext cx="3009465" cy="2527210"/>
          </a:xfrm>
          <a:prstGeom prst="rect">
            <a:avLst/>
          </a:prstGeom>
        </p:spPr>
      </p:pic>
    </p:spTree>
    <p:extLst>
      <p:ext uri="{BB962C8B-B14F-4D97-AF65-F5344CB8AC3E}">
        <p14:creationId xmlns:p14="http://schemas.microsoft.com/office/powerpoint/2010/main" val="3852070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7122380A-49C0-B33E-F0CB-FFF1747CBEC9}"/>
              </a:ext>
            </a:extLst>
          </p:cNvPr>
          <p:cNvSpPr txBox="1"/>
          <p:nvPr/>
        </p:nvSpPr>
        <p:spPr>
          <a:xfrm>
            <a:off x="903515" y="917679"/>
            <a:ext cx="10178143" cy="738664"/>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Task – 2 : </a:t>
            </a:r>
            <a:r>
              <a:rPr lang="en-US" sz="2400" b="1" dirty="0">
                <a:latin typeface="Times New Roman" panose="02020603050405020304" pitchFamily="18" charset="0"/>
                <a:cs typeface="Times New Roman" panose="02020603050405020304" pitchFamily="18" charset="0"/>
              </a:rPr>
              <a:t>Which gender did we sell more products to?</a:t>
            </a:r>
          </a:p>
          <a:p>
            <a:endParaRPr lang="en-IN" dirty="0"/>
          </a:p>
        </p:txBody>
      </p:sp>
      <p:sp>
        <p:nvSpPr>
          <p:cNvPr id="3" name="TextBox 2">
            <a:extLst>
              <a:ext uri="{FF2B5EF4-FFF2-40B4-BE49-F238E27FC236}">
                <a16:creationId xmlns:a16="http://schemas.microsoft.com/office/drawing/2014/main" xmlns="" id="{0169E236-23E4-5841-3713-F9FDE00A6581}"/>
              </a:ext>
            </a:extLst>
          </p:cNvPr>
          <p:cNvSpPr txBox="1"/>
          <p:nvPr/>
        </p:nvSpPr>
        <p:spPr>
          <a:xfrm>
            <a:off x="990600" y="1563841"/>
            <a:ext cx="6847115" cy="3730317"/>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More female customer entries = more products sold to females.</a:t>
            </a:r>
          </a:p>
          <a:p>
            <a:pPr algn="just">
              <a:lnSpc>
                <a:spcPct val="150000"/>
              </a:lnSpc>
            </a:pPr>
            <a:r>
              <a:rPr lang="en-US" sz="2000" b="1" dirty="0">
                <a:latin typeface="Times New Roman" panose="02020603050405020304" pitchFamily="18" charset="0"/>
                <a:cs typeface="Times New Roman" panose="02020603050405020304" pitchFamily="18" charset="0"/>
              </a:rPr>
              <a:t>Explanation:</a:t>
            </a:r>
          </a:p>
          <a:p>
            <a:pPr algn="just">
              <a:lnSpc>
                <a:spcPct val="150000"/>
              </a:lnSpc>
            </a:pPr>
            <a:r>
              <a:rPr lang="en-US" sz="2000" dirty="0">
                <a:latin typeface="Times New Roman" panose="02020603050405020304" pitchFamily="18" charset="0"/>
                <a:cs typeface="Times New Roman" panose="02020603050405020304" pitchFamily="18" charset="0"/>
              </a:rPr>
              <a:t>Since the pie chart shows a larger proportion of female customers, it means more products were sold to females. Each customer represents a purchased item, so the gender with the most customers is the gender with the most sales.</a:t>
            </a:r>
          </a:p>
          <a:p>
            <a:pPr algn="just">
              <a:lnSpc>
                <a:spcPct val="150000"/>
              </a:lnSpc>
            </a:pPr>
            <a:r>
              <a:rPr lang="en-US" sz="2000" b="1" dirty="0">
                <a:latin typeface="Times New Roman" panose="02020603050405020304" pitchFamily="18" charset="0"/>
                <a:cs typeface="Times New Roman" panose="02020603050405020304" pitchFamily="18" charset="0"/>
              </a:rPr>
              <a:t>Conclusion:</a:t>
            </a:r>
          </a:p>
          <a:p>
            <a:pPr algn="just">
              <a:lnSpc>
                <a:spcPct val="150000"/>
              </a:lnSpc>
            </a:pPr>
            <a:r>
              <a:rPr lang="en-US" sz="2000" b="1" dirty="0">
                <a:latin typeface="Times New Roman" panose="02020603050405020304" pitchFamily="18" charset="0"/>
                <a:cs typeface="Times New Roman" panose="02020603050405020304" pitchFamily="18" charset="0"/>
              </a:rPr>
              <a:t>More products were sold to females.</a:t>
            </a:r>
          </a:p>
        </p:txBody>
      </p:sp>
      <p:pic>
        <p:nvPicPr>
          <p:cNvPr id="6" name="Picture 5">
            <a:extLst>
              <a:ext uri="{FF2B5EF4-FFF2-40B4-BE49-F238E27FC236}">
                <a16:creationId xmlns:a16="http://schemas.microsoft.com/office/drawing/2014/main" xmlns="" id="{EBB8CE2B-4DBA-2BE8-BFF7-A5262A7BBD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2193" y="2010062"/>
            <a:ext cx="3009465" cy="2527210"/>
          </a:xfrm>
          <a:prstGeom prst="rect">
            <a:avLst/>
          </a:prstGeom>
        </p:spPr>
      </p:pic>
    </p:spTree>
    <p:extLst>
      <p:ext uri="{BB962C8B-B14F-4D97-AF65-F5344CB8AC3E}">
        <p14:creationId xmlns:p14="http://schemas.microsoft.com/office/powerpoint/2010/main" val="1199937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C32CD04-D70C-7BA7-B264-5D72985A765D}"/>
              </a:ext>
            </a:extLst>
          </p:cNvPr>
          <p:cNvSpPr txBox="1"/>
          <p:nvPr/>
        </p:nvSpPr>
        <p:spPr>
          <a:xfrm>
            <a:off x="978665" y="908454"/>
            <a:ext cx="10609244" cy="73866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Task – 3 : Which gender generated more revenue?</a:t>
            </a:r>
          </a:p>
          <a:p>
            <a:endParaRPr lang="en-IN" dirty="0"/>
          </a:p>
        </p:txBody>
      </p:sp>
      <p:sp>
        <p:nvSpPr>
          <p:cNvPr id="6" name="Rectangle 2">
            <a:extLst>
              <a:ext uri="{FF2B5EF4-FFF2-40B4-BE49-F238E27FC236}">
                <a16:creationId xmlns:a16="http://schemas.microsoft.com/office/drawing/2014/main" xmlns="" id="{2AC6C2C3-8A88-CE56-1E01-C5DD550A865E}"/>
              </a:ext>
            </a:extLst>
          </p:cNvPr>
          <p:cNvSpPr>
            <a:spLocks noChangeArrowheads="1"/>
          </p:cNvSpPr>
          <p:nvPr/>
        </p:nvSpPr>
        <p:spPr bwMode="auto">
          <a:xfrm>
            <a:off x="978665" y="1416286"/>
            <a:ext cx="6925019"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graph shows: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Female revenue: 150.21M.</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Male revenue: 101.3M.</a:t>
            </a:r>
          </a:p>
          <a:p>
            <a:pPr algn="just">
              <a:lnSpc>
                <a:spcPct val="150000"/>
              </a:lnSpc>
            </a:pPr>
            <a:r>
              <a:rPr lang="en-US" sz="2000" b="1" dirty="0">
                <a:latin typeface="Times New Roman" panose="02020603050405020304" pitchFamily="18" charset="0"/>
                <a:cs typeface="Times New Roman" panose="02020603050405020304" pitchFamily="18" charset="0"/>
              </a:rPr>
              <a:t>Explanation:</a:t>
            </a:r>
          </a:p>
          <a:p>
            <a:pPr algn="just">
              <a:lnSpc>
                <a:spcPct val="150000"/>
              </a:lnSpc>
            </a:pPr>
            <a:r>
              <a:rPr lang="en-US" sz="2000" dirty="0">
                <a:latin typeface="Times New Roman" panose="02020603050405020304" pitchFamily="18" charset="0"/>
                <a:cs typeface="Times New Roman" panose="02020603050405020304" pitchFamily="18" charset="0"/>
              </a:rPr>
              <a:t>The donut chart clearly shows that female customers generated more revenue. The female segment is bigger and shows a higher amount. This means females not only shop more (Task 1 + 2) but also spend more money.</a:t>
            </a:r>
          </a:p>
          <a:p>
            <a:pPr algn="just">
              <a:lnSpc>
                <a:spcPct val="150000"/>
              </a:lnSpc>
            </a:pPr>
            <a:r>
              <a:rPr lang="en-US" sz="2000" b="1" dirty="0">
                <a:latin typeface="Times New Roman" panose="02020603050405020304" pitchFamily="18" charset="0"/>
                <a:cs typeface="Times New Roman" panose="02020603050405020304" pitchFamily="18" charset="0"/>
              </a:rPr>
              <a:t>Conclusion:</a:t>
            </a:r>
          </a:p>
          <a:p>
            <a:pPr algn="just">
              <a:lnSpc>
                <a:spcPct val="150000"/>
              </a:lnSpc>
            </a:pPr>
            <a:r>
              <a:rPr lang="en-US" sz="2000" b="1" dirty="0">
                <a:latin typeface="Times New Roman" panose="02020603050405020304" pitchFamily="18" charset="0"/>
                <a:cs typeface="Times New Roman" panose="02020603050405020304" pitchFamily="18" charset="0"/>
              </a:rPr>
              <a:t>Female customers generated more revenue.</a:t>
            </a:r>
          </a:p>
          <a:p>
            <a:pPr lvl="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xmlns="" id="{B625227B-B463-DD8D-87C3-88DA1AAB8443}"/>
              </a:ext>
            </a:extLst>
          </p:cNvPr>
          <p:cNvSpPr txBox="1"/>
          <p:nvPr/>
        </p:nvSpPr>
        <p:spPr>
          <a:xfrm>
            <a:off x="852889" y="3989440"/>
            <a:ext cx="10486222" cy="369332"/>
          </a:xfrm>
          <a:prstGeom prst="rect">
            <a:avLst/>
          </a:prstGeom>
          <a:noFill/>
        </p:spPr>
        <p:txBody>
          <a:bodyPr wrap="square" rtlCol="0">
            <a:spAutoFit/>
          </a:bodyPr>
          <a:lstStyle/>
          <a:p>
            <a:endParaRPr lang="en-IN" dirty="0"/>
          </a:p>
        </p:txBody>
      </p:sp>
      <p:pic>
        <p:nvPicPr>
          <p:cNvPr id="14" name="Picture 13">
            <a:extLst>
              <a:ext uri="{FF2B5EF4-FFF2-40B4-BE49-F238E27FC236}">
                <a16:creationId xmlns:a16="http://schemas.microsoft.com/office/drawing/2014/main" xmlns="" id="{4BE025E9-E6EE-3570-F17B-D8CC52F44F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8379" y="2177312"/>
            <a:ext cx="3121358" cy="2181460"/>
          </a:xfrm>
          <a:prstGeom prst="rect">
            <a:avLst/>
          </a:prstGeom>
        </p:spPr>
      </p:pic>
    </p:spTree>
    <p:extLst>
      <p:ext uri="{BB962C8B-B14F-4D97-AF65-F5344CB8AC3E}">
        <p14:creationId xmlns:p14="http://schemas.microsoft.com/office/powerpoint/2010/main" val="1309471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ACC84984-6096-E77C-9604-4916AD9FECCF}"/>
              </a:ext>
            </a:extLst>
          </p:cNvPr>
          <p:cNvSpPr txBox="1"/>
          <p:nvPr/>
        </p:nvSpPr>
        <p:spPr>
          <a:xfrm>
            <a:off x="925417" y="870333"/>
            <a:ext cx="10377889" cy="738664"/>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Task 4 : </a:t>
            </a:r>
            <a:r>
              <a:rPr lang="en-US" sz="2400" b="1" dirty="0">
                <a:latin typeface="Times New Roman" panose="02020603050405020304" pitchFamily="18" charset="0"/>
                <a:cs typeface="Times New Roman" panose="02020603050405020304" pitchFamily="18" charset="0"/>
              </a:rPr>
              <a:t>Distribution of purchase categories relative to other columns?</a:t>
            </a:r>
          </a:p>
          <a:p>
            <a:endParaRPr lang="en-IN" dirty="0"/>
          </a:p>
        </p:txBody>
      </p:sp>
      <p:sp>
        <p:nvSpPr>
          <p:cNvPr id="4" name="TextBox 3">
            <a:extLst>
              <a:ext uri="{FF2B5EF4-FFF2-40B4-BE49-F238E27FC236}">
                <a16:creationId xmlns:a16="http://schemas.microsoft.com/office/drawing/2014/main" xmlns="" id="{7D0608B4-7386-8509-4527-4B9088632B7B}"/>
              </a:ext>
            </a:extLst>
          </p:cNvPr>
          <p:cNvSpPr txBox="1"/>
          <p:nvPr/>
        </p:nvSpPr>
        <p:spPr>
          <a:xfrm>
            <a:off x="1013552" y="1520328"/>
            <a:ext cx="7182998" cy="4197944"/>
          </a:xfrm>
          <a:prstGeom prst="rect">
            <a:avLst/>
          </a:prstGeom>
          <a:noFill/>
        </p:spPr>
        <p:txBody>
          <a:bodyPr wrap="square" rtlCol="0">
            <a:spAutoFit/>
          </a:bodyPr>
          <a:lstStyle/>
          <a:p>
            <a:pPr>
              <a:lnSpc>
                <a:spcPct val="150000"/>
              </a:lnSpc>
            </a:pPr>
            <a:r>
              <a:rPr lang="en-US" sz="2000" dirty="0">
                <a:latin typeface="Times New Roman" panose="02020603050405020304" pitchFamily="18" charset="0"/>
                <a:cs typeface="Times New Roman" panose="02020603050405020304" pitchFamily="18" charset="0"/>
              </a:rPr>
              <a:t>This graph shows how different product categories are purchased by Male and Female customers.</a:t>
            </a:r>
          </a:p>
          <a:p>
            <a:pPr>
              <a:lnSpc>
                <a:spcPct val="150000"/>
              </a:lnSpc>
            </a:pPr>
            <a:r>
              <a:rPr lang="en-US" sz="2000" b="1" dirty="0">
                <a:latin typeface="Times New Roman" panose="02020603050405020304" pitchFamily="18" charset="0"/>
                <a:cs typeface="Times New Roman" panose="02020603050405020304" pitchFamily="18" charset="0"/>
              </a:rPr>
              <a:t>Explanation: </a:t>
            </a:r>
          </a:p>
          <a:p>
            <a:pPr>
              <a:lnSpc>
                <a:spcPct val="150000"/>
              </a:lnSpc>
            </a:pPr>
            <a:r>
              <a:rPr lang="en-US" sz="2000" dirty="0">
                <a:latin typeface="Times New Roman" panose="02020603050405020304" pitchFamily="18" charset="0"/>
                <a:cs typeface="Times New Roman" panose="02020603050405020304" pitchFamily="18" charset="0"/>
              </a:rPr>
              <a:t>Clothing and Cosmetics have the highest purchases, especially among females, while categories like Books and Technology have lower but similar purchase counts across genders.</a:t>
            </a:r>
          </a:p>
          <a:p>
            <a:pPr>
              <a:lnSpc>
                <a:spcPct val="150000"/>
              </a:lnSpc>
            </a:pPr>
            <a:r>
              <a:rPr lang="en-US" sz="2000" b="1" dirty="0">
                <a:latin typeface="Times New Roman" panose="02020603050405020304" pitchFamily="18" charset="0"/>
                <a:cs typeface="Times New Roman" panose="02020603050405020304" pitchFamily="18" charset="0"/>
              </a:rPr>
              <a:t>Conclusion:</a:t>
            </a:r>
          </a:p>
          <a:p>
            <a:pPr>
              <a:lnSpc>
                <a:spcPct val="150000"/>
              </a:lnSpc>
            </a:pPr>
            <a:r>
              <a:rPr lang="en-US" sz="2000" b="1" dirty="0">
                <a:latin typeface="Times New Roman" panose="02020603050405020304" pitchFamily="18" charset="0"/>
                <a:cs typeface="Times New Roman" panose="02020603050405020304" pitchFamily="18" charset="0"/>
              </a:rPr>
              <a:t>Female customers buy more in most categories, especially Clothing and Cosmetics. </a:t>
            </a:r>
            <a:endParaRPr lang="en-IN" b="1" dirty="0"/>
          </a:p>
        </p:txBody>
      </p:sp>
      <p:pic>
        <p:nvPicPr>
          <p:cNvPr id="5" name="Picture 4">
            <a:extLst>
              <a:ext uri="{FF2B5EF4-FFF2-40B4-BE49-F238E27FC236}">
                <a16:creationId xmlns:a16="http://schemas.microsoft.com/office/drawing/2014/main" xmlns="" id="{26A490DA-0D50-E666-164E-24ACFB3C1717}"/>
              </a:ext>
            </a:extLst>
          </p:cNvPr>
          <p:cNvPicPr>
            <a:picLocks noChangeAspect="1"/>
          </p:cNvPicPr>
          <p:nvPr/>
        </p:nvPicPr>
        <p:blipFill>
          <a:blip r:embed="rId2"/>
          <a:stretch>
            <a:fillRect/>
          </a:stretch>
        </p:blipFill>
        <p:spPr>
          <a:xfrm>
            <a:off x="7944997" y="2258992"/>
            <a:ext cx="3516569" cy="2478261"/>
          </a:xfrm>
          <a:prstGeom prst="rect">
            <a:avLst/>
          </a:prstGeom>
        </p:spPr>
      </p:pic>
    </p:spTree>
    <p:extLst>
      <p:ext uri="{BB962C8B-B14F-4D97-AF65-F5344CB8AC3E}">
        <p14:creationId xmlns:p14="http://schemas.microsoft.com/office/powerpoint/2010/main" val="78211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B43B0A2-03E8-49AB-E8E8-AD111FD24EB4}"/>
              </a:ext>
            </a:extLst>
          </p:cNvPr>
          <p:cNvSpPr txBox="1"/>
          <p:nvPr/>
        </p:nvSpPr>
        <p:spPr>
          <a:xfrm>
            <a:off x="760164" y="826265"/>
            <a:ext cx="10499075" cy="461665"/>
          </a:xfrm>
          <a:prstGeom prst="rect">
            <a:avLst/>
          </a:prstGeom>
          <a:noFill/>
        </p:spPr>
        <p:txBody>
          <a:bodyPr wrap="square" rtlCol="0">
            <a:spAutoFit/>
          </a:bodyPr>
          <a:lstStyle/>
          <a:p>
            <a:pPr fontAlgn="base"/>
            <a:r>
              <a:rPr lang="en-US" sz="2400" b="1" dirty="0">
                <a:latin typeface="Times New Roman" panose="02020603050405020304" pitchFamily="18" charset="0"/>
                <a:cs typeface="Times New Roman" panose="02020603050405020304" pitchFamily="18" charset="0"/>
              </a:rPr>
              <a:t>Task – 5 : How is the shopping distribution according to age?</a:t>
            </a:r>
          </a:p>
        </p:txBody>
      </p:sp>
      <p:sp>
        <p:nvSpPr>
          <p:cNvPr id="4" name="TextBox 3">
            <a:extLst>
              <a:ext uri="{FF2B5EF4-FFF2-40B4-BE49-F238E27FC236}">
                <a16:creationId xmlns:a16="http://schemas.microsoft.com/office/drawing/2014/main" xmlns="" id="{40C84FB2-E264-FD7B-4E8B-6A2991317E1D}"/>
              </a:ext>
            </a:extLst>
          </p:cNvPr>
          <p:cNvSpPr txBox="1"/>
          <p:nvPr/>
        </p:nvSpPr>
        <p:spPr>
          <a:xfrm>
            <a:off x="848298" y="1558352"/>
            <a:ext cx="7116897" cy="406265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graph shows:</a:t>
            </a:r>
          </a:p>
          <a:p>
            <a:pPr algn="just">
              <a:lnSpc>
                <a:spcPct val="150000"/>
              </a:lnSpc>
            </a:pPr>
            <a:r>
              <a:rPr lang="en-US" sz="2000" dirty="0">
                <a:latin typeface="Times New Roman" panose="02020603050405020304" pitchFamily="18" charset="0"/>
                <a:cs typeface="Times New Roman" panose="02020603050405020304" pitchFamily="18" charset="0"/>
              </a:rPr>
              <a:t>21–30 age group has the highest customers.</a:t>
            </a:r>
          </a:p>
          <a:p>
            <a:pPr algn="just">
              <a:lnSpc>
                <a:spcPct val="150000"/>
              </a:lnSpc>
            </a:pPr>
            <a:r>
              <a:rPr lang="en-US" sz="2000" b="1" dirty="0">
                <a:latin typeface="Times New Roman" panose="02020603050405020304" pitchFamily="18" charset="0"/>
                <a:cs typeface="Times New Roman" panose="02020603050405020304" pitchFamily="18" charset="0"/>
              </a:rPr>
              <a:t>Explanation:</a:t>
            </a:r>
          </a:p>
          <a:p>
            <a:pPr algn="just">
              <a:lnSpc>
                <a:spcPct val="150000"/>
              </a:lnSpc>
            </a:pPr>
            <a:r>
              <a:rPr lang="en-US" sz="2000" dirty="0">
                <a:latin typeface="Times New Roman" panose="02020603050405020304" pitchFamily="18" charset="0"/>
                <a:cs typeface="Times New Roman" panose="02020603050405020304" pitchFamily="18" charset="0"/>
              </a:rPr>
              <a:t>The bar chart shows that the 21–30 age group has the most customers, meaning they shop the most. The 31–40 group is next. The youngest (0–20) and oldest (60+) shop the least.</a:t>
            </a:r>
          </a:p>
          <a:p>
            <a:pPr algn="just">
              <a:lnSpc>
                <a:spcPct val="150000"/>
              </a:lnSpc>
            </a:pPr>
            <a:r>
              <a:rPr lang="en-US" sz="2000" b="1" dirty="0">
                <a:latin typeface="Times New Roman" panose="02020603050405020304" pitchFamily="18" charset="0"/>
                <a:cs typeface="Times New Roman" panose="02020603050405020304" pitchFamily="18" charset="0"/>
              </a:rPr>
              <a:t>Conclusion:</a:t>
            </a:r>
          </a:p>
          <a:p>
            <a:pPr algn="just">
              <a:lnSpc>
                <a:spcPct val="150000"/>
              </a:lnSpc>
            </a:pPr>
            <a:r>
              <a:rPr lang="en-US" sz="2000" b="1" dirty="0">
                <a:latin typeface="Times New Roman" panose="02020603050405020304" pitchFamily="18" charset="0"/>
                <a:cs typeface="Times New Roman" panose="02020603050405020304" pitchFamily="18" charset="0"/>
              </a:rPr>
              <a:t>Most shoppers are from the 21–30 age group.</a:t>
            </a:r>
            <a:endParaRPr lang="en-US" sz="2000"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xmlns="" id="{1634E7D5-177F-2AAD-B1CD-ACB850E763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6838" y="2419462"/>
            <a:ext cx="3402277" cy="2340429"/>
          </a:xfrm>
          <a:prstGeom prst="rect">
            <a:avLst/>
          </a:prstGeom>
        </p:spPr>
      </p:pic>
    </p:spTree>
    <p:extLst>
      <p:ext uri="{BB962C8B-B14F-4D97-AF65-F5344CB8AC3E}">
        <p14:creationId xmlns:p14="http://schemas.microsoft.com/office/powerpoint/2010/main" val="3783567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02BD955A-FC44-D6CA-EDA3-6D25187D894B}"/>
              </a:ext>
            </a:extLst>
          </p:cNvPr>
          <p:cNvSpPr txBox="1"/>
          <p:nvPr/>
        </p:nvSpPr>
        <p:spPr>
          <a:xfrm>
            <a:off x="936434" y="914400"/>
            <a:ext cx="1052110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Task – 6 : </a:t>
            </a:r>
            <a:r>
              <a:rPr lang="en-US" sz="2400" b="1" dirty="0">
                <a:latin typeface="Times New Roman" panose="02020603050405020304" pitchFamily="18" charset="0"/>
                <a:cs typeface="Times New Roman" panose="02020603050405020304" pitchFamily="18" charset="0"/>
              </a:rPr>
              <a:t>Which age cat did we sell more products to?</a:t>
            </a:r>
            <a:endParaRPr lang="en-I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6E2D1D78-EEE3-A745-CEB4-6514B759ED36}"/>
              </a:ext>
            </a:extLst>
          </p:cNvPr>
          <p:cNvSpPr txBox="1"/>
          <p:nvPr/>
        </p:nvSpPr>
        <p:spPr>
          <a:xfrm>
            <a:off x="1007060" y="1665513"/>
            <a:ext cx="10379856" cy="4524315"/>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the graph shows:</a:t>
            </a:r>
          </a:p>
          <a:p>
            <a:pPr algn="just">
              <a:lnSpc>
                <a:spcPct val="150000"/>
              </a:lnSpc>
            </a:pPr>
            <a:r>
              <a:rPr lang="en-US" sz="2000" dirty="0">
                <a:latin typeface="Times New Roman" panose="02020603050405020304" pitchFamily="18" charset="0"/>
                <a:cs typeface="Times New Roman" panose="02020603050405020304" pitchFamily="18" charset="0"/>
              </a:rPr>
              <a:t>Highest bar = highest products sold.</a:t>
            </a:r>
          </a:p>
          <a:p>
            <a:pPr algn="just">
              <a:lnSpc>
                <a:spcPct val="150000"/>
              </a:lnSpc>
            </a:pPr>
            <a:r>
              <a:rPr lang="en-US" sz="2000" b="1" dirty="0">
                <a:latin typeface="Times New Roman" panose="02020603050405020304" pitchFamily="18" charset="0"/>
                <a:cs typeface="Times New Roman" panose="02020603050405020304" pitchFamily="18" charset="0"/>
              </a:rPr>
              <a:t>Explanation:</a:t>
            </a:r>
          </a:p>
          <a:p>
            <a:pPr algn="just">
              <a:lnSpc>
                <a:spcPct val="150000"/>
              </a:lnSpc>
            </a:pPr>
            <a:r>
              <a:rPr lang="en-US" sz="2000" dirty="0">
                <a:latin typeface="Times New Roman" panose="02020603050405020304" pitchFamily="18" charset="0"/>
                <a:cs typeface="Times New Roman" panose="02020603050405020304" pitchFamily="18" charset="0"/>
              </a:rPr>
              <a:t>Because each customer is linked to a purchase, the age group </a:t>
            </a:r>
          </a:p>
          <a:p>
            <a:pPr algn="just">
              <a:lnSpc>
                <a:spcPct val="150000"/>
              </a:lnSpc>
            </a:pPr>
            <a:r>
              <a:rPr lang="en-US" sz="2000" dirty="0">
                <a:latin typeface="Times New Roman" panose="02020603050405020304" pitchFamily="18" charset="0"/>
                <a:cs typeface="Times New Roman" panose="02020603050405020304" pitchFamily="18" charset="0"/>
              </a:rPr>
              <a:t>with the most customers is the age group with the most products </a:t>
            </a:r>
          </a:p>
          <a:p>
            <a:pPr algn="just">
              <a:lnSpc>
                <a:spcPct val="150000"/>
              </a:lnSpc>
            </a:pPr>
            <a:r>
              <a:rPr lang="en-US" sz="2000" dirty="0">
                <a:latin typeface="Times New Roman" panose="02020603050405020304" pitchFamily="18" charset="0"/>
                <a:cs typeface="Times New Roman" panose="02020603050405020304" pitchFamily="18" charset="0"/>
              </a:rPr>
              <a:t>sold. The 21–30 group has the tallest bar → most products </a:t>
            </a:r>
          </a:p>
          <a:p>
            <a:pPr algn="just">
              <a:lnSpc>
                <a:spcPct val="150000"/>
              </a:lnSpc>
            </a:pPr>
            <a:r>
              <a:rPr lang="en-US" sz="2000" dirty="0">
                <a:latin typeface="Times New Roman" panose="02020603050405020304" pitchFamily="18" charset="0"/>
                <a:cs typeface="Times New Roman" panose="02020603050405020304" pitchFamily="18" charset="0"/>
              </a:rPr>
              <a:t>purchased.</a:t>
            </a:r>
          </a:p>
          <a:p>
            <a:pPr algn="just">
              <a:lnSpc>
                <a:spcPct val="150000"/>
              </a:lnSpc>
            </a:pPr>
            <a:r>
              <a:rPr lang="en-US" sz="2000" b="1" dirty="0">
                <a:latin typeface="Times New Roman" panose="02020603050405020304" pitchFamily="18" charset="0"/>
                <a:cs typeface="Times New Roman" panose="02020603050405020304" pitchFamily="18" charset="0"/>
              </a:rPr>
              <a:t>Conclusion:</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21–30 age group bought the most products.</a:t>
            </a:r>
          </a:p>
          <a:p>
            <a:endParaRPr lang="en-IN" dirty="0"/>
          </a:p>
        </p:txBody>
      </p:sp>
      <p:pic>
        <p:nvPicPr>
          <p:cNvPr id="5" name="Picture 4">
            <a:extLst>
              <a:ext uri="{FF2B5EF4-FFF2-40B4-BE49-F238E27FC236}">
                <a16:creationId xmlns:a16="http://schemas.microsoft.com/office/drawing/2014/main" xmlns="" id="{556A3707-5ED6-159A-5159-94311EC45D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1028" y="2379970"/>
            <a:ext cx="3402277" cy="2340429"/>
          </a:xfrm>
          <a:prstGeom prst="rect">
            <a:avLst/>
          </a:prstGeom>
        </p:spPr>
      </p:pic>
    </p:spTree>
    <p:extLst>
      <p:ext uri="{BB962C8B-B14F-4D97-AF65-F5344CB8AC3E}">
        <p14:creationId xmlns:p14="http://schemas.microsoft.com/office/powerpoint/2010/main" val="1511028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48E4E10B-C621-3109-B4FB-CF0FC0E4CE8D}"/>
              </a:ext>
            </a:extLst>
          </p:cNvPr>
          <p:cNvSpPr txBox="1"/>
          <p:nvPr/>
        </p:nvSpPr>
        <p:spPr>
          <a:xfrm>
            <a:off x="1000699" y="982176"/>
            <a:ext cx="1056517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Task – 7 : Which age cat generated more revenue?</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2A0D78C6-8660-B5FC-20D6-6C3DB0A9B736}"/>
              </a:ext>
            </a:extLst>
          </p:cNvPr>
          <p:cNvSpPr txBox="1"/>
          <p:nvPr/>
        </p:nvSpPr>
        <p:spPr>
          <a:xfrm>
            <a:off x="957288" y="1565027"/>
            <a:ext cx="6874525" cy="4616648"/>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graph shows:</a:t>
            </a:r>
          </a:p>
          <a:p>
            <a:pPr algn="just">
              <a:lnSpc>
                <a:spcPct val="150000"/>
              </a:lnSpc>
            </a:pPr>
            <a:r>
              <a:rPr lang="en-US" sz="2000" dirty="0">
                <a:latin typeface="Times New Roman" panose="02020603050405020304" pitchFamily="18" charset="0"/>
                <a:cs typeface="Times New Roman" panose="02020603050405020304" pitchFamily="18" charset="0"/>
              </a:rPr>
              <a:t>21–30 age group has the highest revenue.</a:t>
            </a:r>
          </a:p>
          <a:p>
            <a:pPr algn="just">
              <a:lnSpc>
                <a:spcPct val="150000"/>
              </a:lnSpc>
            </a:pPr>
            <a:r>
              <a:rPr lang="en-US" sz="2000" b="1" dirty="0">
                <a:latin typeface="Times New Roman" panose="02020603050405020304" pitchFamily="18" charset="0"/>
                <a:cs typeface="Times New Roman" panose="02020603050405020304" pitchFamily="18" charset="0"/>
              </a:rPr>
              <a:t>Explanation:</a:t>
            </a:r>
          </a:p>
          <a:p>
            <a:pPr algn="just">
              <a:lnSpc>
                <a:spcPct val="150000"/>
              </a:lnSpc>
            </a:pPr>
            <a:r>
              <a:rPr lang="en-US" sz="2000" dirty="0">
                <a:latin typeface="Times New Roman" panose="02020603050405020304" pitchFamily="18" charset="0"/>
                <a:cs typeface="Times New Roman" panose="02020603050405020304" pitchFamily="18" charset="0"/>
              </a:rPr>
              <a:t>The area chart shows that the 21–30 age group generates maximum revenue, followed by the 31–40 group. Older and younger age groups generate lower revenue.</a:t>
            </a:r>
          </a:p>
          <a:p>
            <a:pPr algn="just">
              <a:lnSpc>
                <a:spcPct val="150000"/>
              </a:lnSpc>
            </a:pPr>
            <a:r>
              <a:rPr lang="en-US" sz="2000" b="1" dirty="0">
                <a:latin typeface="Times New Roman" panose="02020603050405020304" pitchFamily="18" charset="0"/>
                <a:cs typeface="Times New Roman" panose="02020603050405020304" pitchFamily="18" charset="0"/>
              </a:rPr>
              <a:t>Conclusion:</a:t>
            </a:r>
          </a:p>
          <a:p>
            <a:pPr algn="just">
              <a:lnSpc>
                <a:spcPct val="150000"/>
              </a:lnSpc>
            </a:pPr>
            <a:r>
              <a:rPr lang="en-US" sz="2000" b="1" dirty="0">
                <a:latin typeface="Times New Roman" panose="02020603050405020304" pitchFamily="18" charset="0"/>
                <a:cs typeface="Times New Roman" panose="02020603050405020304" pitchFamily="18" charset="0"/>
              </a:rPr>
              <a:t>21–30 age group generated the most revenue.</a:t>
            </a:r>
          </a:p>
          <a:p>
            <a:endParaRPr lang="en-US" dirty="0"/>
          </a:p>
          <a:p>
            <a:endParaRPr lang="en-US" dirty="0"/>
          </a:p>
          <a:p>
            <a:endParaRPr lang="en-IN" dirty="0"/>
          </a:p>
        </p:txBody>
      </p:sp>
      <p:pic>
        <p:nvPicPr>
          <p:cNvPr id="6" name="Picture 5">
            <a:extLst>
              <a:ext uri="{FF2B5EF4-FFF2-40B4-BE49-F238E27FC236}">
                <a16:creationId xmlns:a16="http://schemas.microsoft.com/office/drawing/2014/main" xmlns="" id="{D44D8772-2369-B519-1BD3-6BCBBB7957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0838" y="2277075"/>
            <a:ext cx="3100199" cy="2111829"/>
          </a:xfrm>
          <a:prstGeom prst="rect">
            <a:avLst/>
          </a:prstGeom>
        </p:spPr>
      </p:pic>
    </p:spTree>
    <p:extLst>
      <p:ext uri="{BB962C8B-B14F-4D97-AF65-F5344CB8AC3E}">
        <p14:creationId xmlns:p14="http://schemas.microsoft.com/office/powerpoint/2010/main" val="1415410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19AE676-A236-9208-D27C-97AE77EDF89B}"/>
              </a:ext>
            </a:extLst>
          </p:cNvPr>
          <p:cNvSpPr txBox="1"/>
          <p:nvPr/>
        </p:nvSpPr>
        <p:spPr>
          <a:xfrm>
            <a:off x="1001487" y="762000"/>
            <a:ext cx="10287000" cy="738664"/>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Task – 8 : </a:t>
            </a:r>
            <a:r>
              <a:rPr lang="en-US" sz="2400" b="1" dirty="0">
                <a:latin typeface="Times New Roman" panose="02020603050405020304" pitchFamily="18" charset="0"/>
                <a:cs typeface="Times New Roman" panose="02020603050405020304" pitchFamily="18" charset="0"/>
              </a:rPr>
              <a:t>Distribution of purchase categories relative to other columns?</a:t>
            </a:r>
          </a:p>
          <a:p>
            <a:endParaRPr lang="en-IN" dirty="0"/>
          </a:p>
        </p:txBody>
      </p:sp>
      <p:sp>
        <p:nvSpPr>
          <p:cNvPr id="3" name="TextBox 2">
            <a:extLst>
              <a:ext uri="{FF2B5EF4-FFF2-40B4-BE49-F238E27FC236}">
                <a16:creationId xmlns:a16="http://schemas.microsoft.com/office/drawing/2014/main" xmlns="" id="{4D0F15AB-141B-5FE5-84DA-43FAF0AA6486}"/>
              </a:ext>
            </a:extLst>
          </p:cNvPr>
          <p:cNvSpPr txBox="1"/>
          <p:nvPr/>
        </p:nvSpPr>
        <p:spPr>
          <a:xfrm>
            <a:off x="1001487" y="1500664"/>
            <a:ext cx="6920430" cy="4524315"/>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graph shows: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Clothing is the most purchased category.</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Technology and Books are the least purchased.</a:t>
            </a:r>
          </a:p>
          <a:p>
            <a:pPr algn="just">
              <a:lnSpc>
                <a:spcPct val="150000"/>
              </a:lnSpc>
            </a:pPr>
            <a:r>
              <a:rPr lang="en-US" sz="2000" b="1" dirty="0">
                <a:latin typeface="Times New Roman" panose="02020603050405020304" pitchFamily="18" charset="0"/>
                <a:cs typeface="Times New Roman" panose="02020603050405020304" pitchFamily="18" charset="0"/>
              </a:rPr>
              <a:t>Explanation:</a:t>
            </a:r>
          </a:p>
          <a:p>
            <a:pPr algn="just">
              <a:lnSpc>
                <a:spcPct val="150000"/>
              </a:lnSpc>
            </a:pPr>
            <a:r>
              <a:rPr lang="en-US" sz="2000" dirty="0">
                <a:latin typeface="Times New Roman" panose="02020603050405020304" pitchFamily="18" charset="0"/>
                <a:cs typeface="Times New Roman" panose="02020603050405020304" pitchFamily="18" charset="0"/>
              </a:rPr>
              <a:t>The visual shows how different age groups and genders purchase across categories. The largest bars belong to Clothing and Food &amp; Beverage, showing these are the most preferred categories.</a:t>
            </a:r>
          </a:p>
          <a:p>
            <a:pPr algn="just">
              <a:lnSpc>
                <a:spcPct val="150000"/>
              </a:lnSpc>
            </a:pPr>
            <a:r>
              <a:rPr lang="en-US" sz="2000" b="1" dirty="0">
                <a:latin typeface="Times New Roman" panose="02020603050405020304" pitchFamily="18" charset="0"/>
                <a:cs typeface="Times New Roman" panose="02020603050405020304" pitchFamily="18" charset="0"/>
              </a:rPr>
              <a:t>Conclusion:</a:t>
            </a:r>
          </a:p>
          <a:p>
            <a:pPr algn="just">
              <a:lnSpc>
                <a:spcPct val="150000"/>
              </a:lnSpc>
            </a:pPr>
            <a:r>
              <a:rPr lang="en-US" sz="2000" b="1" dirty="0">
                <a:latin typeface="Times New Roman" panose="02020603050405020304" pitchFamily="18" charset="0"/>
                <a:cs typeface="Times New Roman" panose="02020603050405020304" pitchFamily="18" charset="0"/>
              </a:rPr>
              <a:t>Clothing is the most purchased category across segments.</a:t>
            </a:r>
            <a:endParaRPr lang="en-US" sz="2000" dirty="0">
              <a:latin typeface="Times New Roman" panose="02020603050405020304" pitchFamily="18" charset="0"/>
              <a:cs typeface="Times New Roman" panose="02020603050405020304" pitchFamily="18" charset="0"/>
            </a:endParaRPr>
          </a:p>
          <a:p>
            <a:endParaRPr lang="en-IN" dirty="0"/>
          </a:p>
        </p:txBody>
      </p:sp>
      <p:pic>
        <p:nvPicPr>
          <p:cNvPr id="9" name="Picture 8">
            <a:extLst>
              <a:ext uri="{FF2B5EF4-FFF2-40B4-BE49-F238E27FC236}">
                <a16:creationId xmlns:a16="http://schemas.microsoft.com/office/drawing/2014/main" xmlns="" id="{FD7B8509-A409-7459-AC4C-FAAD94C984A6}"/>
              </a:ext>
            </a:extLst>
          </p:cNvPr>
          <p:cNvPicPr>
            <a:picLocks noChangeAspect="1"/>
          </p:cNvPicPr>
          <p:nvPr/>
        </p:nvPicPr>
        <p:blipFill>
          <a:blip r:embed="rId2"/>
          <a:stretch>
            <a:fillRect/>
          </a:stretch>
        </p:blipFill>
        <p:spPr>
          <a:xfrm>
            <a:off x="7921917" y="2503733"/>
            <a:ext cx="3472545" cy="2227498"/>
          </a:xfrm>
          <a:prstGeom prst="rect">
            <a:avLst/>
          </a:prstGeom>
        </p:spPr>
      </p:pic>
    </p:spTree>
    <p:extLst>
      <p:ext uri="{BB962C8B-B14F-4D97-AF65-F5344CB8AC3E}">
        <p14:creationId xmlns:p14="http://schemas.microsoft.com/office/powerpoint/2010/main" val="670362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862B3B16-9657-7B76-AC42-0471017F0BBD}"/>
              </a:ext>
            </a:extLst>
          </p:cNvPr>
          <p:cNvSpPr txBox="1"/>
          <p:nvPr/>
        </p:nvSpPr>
        <p:spPr>
          <a:xfrm>
            <a:off x="793477" y="603107"/>
            <a:ext cx="10212374" cy="196977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Task – 9 : </a:t>
            </a:r>
            <a:r>
              <a:rPr lang="en-US" sz="2400" b="1" dirty="0">
                <a:latin typeface="Times New Roman" panose="02020603050405020304" pitchFamily="18" charset="0"/>
                <a:cs typeface="Times New Roman" panose="02020603050405020304" pitchFamily="18" charset="0"/>
              </a:rPr>
              <a:t>Does the payment method have a relation with other columns?</a:t>
            </a:r>
          </a:p>
          <a:p>
            <a:endParaRPr lang="en-IN"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This bar chart compares total revenue generated by each payment method (Cash, Credit Card, Debit Card) for male and female customers.</a:t>
            </a:r>
          </a:p>
          <a:p>
            <a:endParaRPr lang="en-IN" dirty="0"/>
          </a:p>
        </p:txBody>
      </p:sp>
      <p:sp>
        <p:nvSpPr>
          <p:cNvPr id="3" name="TextBox 2">
            <a:extLst>
              <a:ext uri="{FF2B5EF4-FFF2-40B4-BE49-F238E27FC236}">
                <a16:creationId xmlns:a16="http://schemas.microsoft.com/office/drawing/2014/main" xmlns="" id="{3DA4F11D-C7D3-965B-A2DF-58DE23646079}"/>
              </a:ext>
            </a:extLst>
          </p:cNvPr>
          <p:cNvSpPr txBox="1"/>
          <p:nvPr/>
        </p:nvSpPr>
        <p:spPr>
          <a:xfrm>
            <a:off x="793477" y="2243524"/>
            <a:ext cx="7469173" cy="3268652"/>
          </a:xfrm>
          <a:prstGeom prst="rect">
            <a:avLst/>
          </a:prstGeom>
          <a:noFill/>
        </p:spPr>
        <p:txBody>
          <a:bodyPr wrap="square" rtlCol="0">
            <a:spAutoFit/>
          </a:bodyPr>
          <a:lstStyle/>
          <a:p>
            <a:pPr algn="just">
              <a:lnSpc>
                <a:spcPct val="150000"/>
              </a:lnSpc>
            </a:pPr>
            <a:r>
              <a:rPr lang="en-US" sz="2000" b="1" dirty="0">
                <a:latin typeface="Times New Roman" pitchFamily="18" charset="0"/>
                <a:cs typeface="Times New Roman" panose="02020603050405020304" pitchFamily="18" charset="0"/>
              </a:rPr>
              <a:t>Explanation: </a:t>
            </a:r>
          </a:p>
          <a:p>
            <a:pPr algn="just">
              <a:lnSpc>
                <a:spcPct val="150000"/>
              </a:lnSpc>
            </a:pPr>
            <a:r>
              <a:rPr lang="en-US" sz="2000" dirty="0">
                <a:latin typeface="Times New Roman" panose="02020603050405020304" pitchFamily="18" charset="0"/>
                <a:cs typeface="Times New Roman" panose="02020603050405020304" pitchFamily="18" charset="0"/>
              </a:rPr>
              <a:t>Female customers consistently generate higher revenue than males in all payment methods .Cash brings the highest revenue overall, followed by Credit Card, and then Debit Card. The pattern is similar for both genders, showing that payment choices are linked with revenue contribution.</a:t>
            </a:r>
          </a:p>
          <a:p>
            <a:pPr algn="just">
              <a:lnSpc>
                <a:spcPct val="150000"/>
              </a:lnSpc>
            </a:pPr>
            <a:endParaRPr lang="en-US" sz="20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DB661EEA-E325-F510-D510-2B7C6D753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41736" y="2572877"/>
            <a:ext cx="2974554" cy="2332822"/>
          </a:xfrm>
          <a:prstGeom prst="rect">
            <a:avLst/>
          </a:prstGeom>
        </p:spPr>
      </p:pic>
      <p:sp>
        <p:nvSpPr>
          <p:cNvPr id="14" name="TextBox 13">
            <a:extLst>
              <a:ext uri="{FF2B5EF4-FFF2-40B4-BE49-F238E27FC236}">
                <a16:creationId xmlns:a16="http://schemas.microsoft.com/office/drawing/2014/main" xmlns="" id="{54498955-F39E-88CE-5213-B65E06845767}"/>
              </a:ext>
            </a:extLst>
          </p:cNvPr>
          <p:cNvSpPr txBox="1"/>
          <p:nvPr/>
        </p:nvSpPr>
        <p:spPr>
          <a:xfrm>
            <a:off x="793477" y="4905699"/>
            <a:ext cx="10763217" cy="1754326"/>
          </a:xfrm>
          <a:prstGeom prst="rect">
            <a:avLst/>
          </a:prstGeom>
          <a:noFill/>
        </p:spPr>
        <p:txBody>
          <a:bodyPr wrap="square" rtlCol="0">
            <a:spAutoFit/>
          </a:bodyPr>
          <a:lstStyle/>
          <a:p>
            <a:pPr>
              <a:lnSpc>
                <a:spcPct val="150000"/>
              </a:lnSpc>
            </a:pPr>
            <a:r>
              <a:rPr lang="en-IN" sz="2000" b="1" dirty="0">
                <a:latin typeface="Times New Roman" panose="02020603050405020304" pitchFamily="18" charset="0"/>
                <a:cs typeface="Times New Roman" panose="02020603050405020304" pitchFamily="18" charset="0"/>
              </a:rPr>
              <a:t>Conclusion :</a:t>
            </a:r>
          </a:p>
          <a:p>
            <a:pPr>
              <a:lnSpc>
                <a:spcPct val="150000"/>
              </a:lnSpc>
            </a:pPr>
            <a:r>
              <a:rPr lang="en-US" sz="2000" b="1" dirty="0">
                <a:latin typeface="Times New Roman" panose="02020603050405020304" pitchFamily="18" charset="0"/>
                <a:cs typeface="Times New Roman" panose="02020603050405020304" pitchFamily="18" charset="0"/>
              </a:rPr>
              <a:t>Female customers generate more revenue across all payment methods, and Cash is the highest revenue-generating method.</a:t>
            </a:r>
          </a:p>
          <a:p>
            <a:endParaRPr lang="en-IN" dirty="0"/>
          </a:p>
        </p:txBody>
      </p:sp>
    </p:spTree>
    <p:extLst>
      <p:ext uri="{BB962C8B-B14F-4D97-AF65-F5344CB8AC3E}">
        <p14:creationId xmlns:p14="http://schemas.microsoft.com/office/powerpoint/2010/main" val="2895805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9EDB3FA-6A27-5728-4461-9BAFA900507D}"/>
              </a:ext>
            </a:extLst>
          </p:cNvPr>
          <p:cNvSpPr txBox="1"/>
          <p:nvPr/>
        </p:nvSpPr>
        <p:spPr>
          <a:xfrm>
            <a:off x="990600" y="838200"/>
            <a:ext cx="10134600" cy="738664"/>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Task – 10 : </a:t>
            </a:r>
            <a:r>
              <a:rPr lang="en-US" sz="2400" b="1" dirty="0">
                <a:latin typeface="Times New Roman" panose="02020603050405020304" pitchFamily="18" charset="0"/>
                <a:cs typeface="Times New Roman" panose="02020603050405020304" pitchFamily="18" charset="0"/>
              </a:rPr>
              <a:t>How is the distribution of the payment method?</a:t>
            </a:r>
          </a:p>
          <a:p>
            <a:endParaRPr lang="en-IN" dirty="0"/>
          </a:p>
        </p:txBody>
      </p:sp>
      <p:sp>
        <p:nvSpPr>
          <p:cNvPr id="3" name="TextBox 2">
            <a:extLst>
              <a:ext uri="{FF2B5EF4-FFF2-40B4-BE49-F238E27FC236}">
                <a16:creationId xmlns:a16="http://schemas.microsoft.com/office/drawing/2014/main" xmlns="" id="{3A00B208-5468-5AF1-1470-A4A62AD81BF9}"/>
              </a:ext>
            </a:extLst>
          </p:cNvPr>
          <p:cNvSpPr txBox="1"/>
          <p:nvPr/>
        </p:nvSpPr>
        <p:spPr>
          <a:xfrm>
            <a:off x="1017814" y="1501911"/>
            <a:ext cx="10080171" cy="3730317"/>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The graph shows: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Cash is highest.</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Credit Card next, Debit Card lowest.</a:t>
            </a:r>
          </a:p>
          <a:p>
            <a:pPr algn="just">
              <a:lnSpc>
                <a:spcPct val="150000"/>
              </a:lnSpc>
            </a:pPr>
            <a:r>
              <a:rPr lang="en-US" sz="2000" b="1" dirty="0">
                <a:latin typeface="Times New Roman" panose="02020603050405020304" pitchFamily="18" charset="0"/>
                <a:cs typeface="Times New Roman" panose="02020603050405020304" pitchFamily="18" charset="0"/>
              </a:rPr>
              <a:t>Explanation:</a:t>
            </a:r>
          </a:p>
          <a:p>
            <a:pPr algn="just">
              <a:lnSpc>
                <a:spcPct val="150000"/>
              </a:lnSpc>
            </a:pPr>
            <a:r>
              <a:rPr lang="en-US" sz="2000" dirty="0">
                <a:latin typeface="Times New Roman" panose="02020603050405020304" pitchFamily="18" charset="0"/>
                <a:cs typeface="Times New Roman" panose="02020603050405020304" pitchFamily="18" charset="0"/>
              </a:rPr>
              <a:t>The bar chart shows that customers prefer cash the most, </a:t>
            </a:r>
          </a:p>
          <a:p>
            <a:pPr algn="just">
              <a:lnSpc>
                <a:spcPct val="150000"/>
              </a:lnSpc>
            </a:pPr>
            <a:r>
              <a:rPr lang="en-US" sz="2000" dirty="0">
                <a:latin typeface="Times New Roman" panose="02020603050405020304" pitchFamily="18" charset="0"/>
                <a:cs typeface="Times New Roman" panose="02020603050405020304" pitchFamily="18" charset="0"/>
              </a:rPr>
              <a:t>followed  by Credit Card. Debit Card is the least used.</a:t>
            </a:r>
          </a:p>
          <a:p>
            <a:pPr algn="just">
              <a:lnSpc>
                <a:spcPct val="150000"/>
              </a:lnSpc>
            </a:pPr>
            <a:r>
              <a:rPr lang="en-US" sz="2000" b="1" dirty="0">
                <a:latin typeface="Times New Roman" panose="02020603050405020304" pitchFamily="18" charset="0"/>
                <a:cs typeface="Times New Roman" panose="02020603050405020304" pitchFamily="18" charset="0"/>
              </a:rPr>
              <a:t>Conclusion:</a:t>
            </a:r>
          </a:p>
          <a:p>
            <a:pPr algn="just">
              <a:lnSpc>
                <a:spcPct val="150000"/>
              </a:lnSpc>
            </a:pPr>
            <a:r>
              <a:rPr lang="en-US" sz="2000" b="1" dirty="0">
                <a:latin typeface="Times New Roman" panose="02020603050405020304" pitchFamily="18" charset="0"/>
                <a:cs typeface="Times New Roman" panose="02020603050405020304" pitchFamily="18" charset="0"/>
              </a:rPr>
              <a:t>Cash is the most preferred payment method.</a:t>
            </a: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08B4C346-4438-977A-0342-53A399C4A505}"/>
              </a:ext>
            </a:extLst>
          </p:cNvPr>
          <p:cNvPicPr>
            <a:picLocks noChangeAspect="1"/>
          </p:cNvPicPr>
          <p:nvPr/>
        </p:nvPicPr>
        <p:blipFill>
          <a:blip r:embed="rId2"/>
          <a:stretch>
            <a:fillRect/>
          </a:stretch>
        </p:blipFill>
        <p:spPr>
          <a:xfrm>
            <a:off x="7260634" y="2378160"/>
            <a:ext cx="3039874" cy="2308323"/>
          </a:xfrm>
          <a:prstGeom prst="rect">
            <a:avLst/>
          </a:prstGeom>
        </p:spPr>
      </p:pic>
    </p:spTree>
    <p:extLst>
      <p:ext uri="{BB962C8B-B14F-4D97-AF65-F5344CB8AC3E}">
        <p14:creationId xmlns:p14="http://schemas.microsoft.com/office/powerpoint/2010/main" val="3752853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C57064E6-8511-174D-6670-9C6EA35A06F9}"/>
              </a:ext>
            </a:extLst>
          </p:cNvPr>
          <p:cNvSpPr txBox="1"/>
          <p:nvPr/>
        </p:nvSpPr>
        <p:spPr>
          <a:xfrm>
            <a:off x="1034143" y="783771"/>
            <a:ext cx="10276114" cy="138499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Task – 11 : </a:t>
            </a:r>
            <a:r>
              <a:rPr lang="en-US" sz="2400" b="1" dirty="0">
                <a:latin typeface="Times New Roman" panose="02020603050405020304" pitchFamily="18" charset="0"/>
                <a:cs typeface="Times New Roman" panose="02020603050405020304" pitchFamily="18" charset="0"/>
              </a:rPr>
              <a:t>Visualize the data using Tableau /</a:t>
            </a:r>
            <a:r>
              <a:rPr lang="en-US" sz="2400" b="1" dirty="0" err="1">
                <a:latin typeface="Times New Roman" panose="02020603050405020304" pitchFamily="18" charset="0"/>
                <a:cs typeface="Times New Roman" panose="02020603050405020304" pitchFamily="18" charset="0"/>
              </a:rPr>
              <a:t>PowerBI</a:t>
            </a:r>
            <a:r>
              <a:rPr lang="en-US" sz="2400" b="1" dirty="0">
                <a:latin typeface="Times New Roman" panose="02020603050405020304" pitchFamily="18" charset="0"/>
                <a:cs typeface="Times New Roman" panose="02020603050405020304" pitchFamily="18" charset="0"/>
              </a:rPr>
              <a:t> and derive insights and give your inputs/suggestions to the company.</a:t>
            </a:r>
          </a:p>
          <a:p>
            <a:endParaRPr lang="en-US" dirty="0"/>
          </a:p>
          <a:p>
            <a:endParaRPr lang="en-IN" dirty="0"/>
          </a:p>
        </p:txBody>
      </p:sp>
      <p:sp>
        <p:nvSpPr>
          <p:cNvPr id="5" name="TextBox 4">
            <a:extLst>
              <a:ext uri="{FF2B5EF4-FFF2-40B4-BE49-F238E27FC236}">
                <a16:creationId xmlns:a16="http://schemas.microsoft.com/office/drawing/2014/main" xmlns="" id="{7C6D414F-1C5F-0F8B-CA89-3A9D4B24A320}"/>
              </a:ext>
            </a:extLst>
          </p:cNvPr>
          <p:cNvSpPr txBox="1"/>
          <p:nvPr/>
        </p:nvSpPr>
        <p:spPr>
          <a:xfrm>
            <a:off x="1034143" y="1740861"/>
            <a:ext cx="9982200" cy="4524315"/>
          </a:xfrm>
          <a:prstGeom prst="rect">
            <a:avLst/>
          </a:prstGeom>
          <a:noFill/>
        </p:spPr>
        <p:txBody>
          <a:bodyPr wrap="square" rtlCol="0">
            <a:spAutoFit/>
          </a:bodyPr>
          <a:lstStyle/>
          <a:p>
            <a:pPr>
              <a:lnSpc>
                <a:spcPct val="150000"/>
              </a:lnSpc>
            </a:pPr>
            <a:r>
              <a:rPr lang="en-US" sz="2000" dirty="0">
                <a:latin typeface="Times New Roman" panose="02020603050405020304" pitchFamily="18" charset="0"/>
                <a:cs typeface="Times New Roman" panose="02020603050405020304" pitchFamily="18" charset="0"/>
              </a:rPr>
              <a:t>Based on all visuals: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Female customers shop more and spend more.</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21–30 age group is the strongest customer segment.</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Clothing is the top-performing category.</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Credit Card is the preferred payment method.</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Revenue is highest in Shopping Mall-1.</a:t>
            </a:r>
          </a:p>
          <a:p>
            <a:pPr>
              <a:lnSpc>
                <a:spcPct val="150000"/>
              </a:lnSpc>
            </a:pPr>
            <a:r>
              <a:rPr lang="en-US" sz="2000" b="1" dirty="0">
                <a:latin typeface="Times New Roman" panose="02020603050405020304" pitchFamily="18" charset="0"/>
                <a:cs typeface="Times New Roman" panose="02020603050405020304" pitchFamily="18" charset="0"/>
              </a:rPr>
              <a:t>Conclusion:</a:t>
            </a:r>
          </a:p>
          <a:p>
            <a:pPr>
              <a:lnSpc>
                <a:spcPct val="150000"/>
              </a:lnSpc>
            </a:pPr>
            <a:r>
              <a:rPr lang="en-US" sz="2000" b="1" dirty="0">
                <a:latin typeface="Times New Roman" panose="02020603050405020304" pitchFamily="18" charset="0"/>
                <a:cs typeface="Times New Roman" panose="02020603050405020304" pitchFamily="18" charset="0"/>
              </a:rPr>
              <a:t>Focus marketing on females and the 21–30 group, promote Clothing category, and offer Credit Card discounts to increase sales.</a:t>
            </a:r>
            <a:endParaRPr lang="en-US"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10340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F20298-967E-F2DD-6193-9A9A9429F3D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Predictive Modelling – Linear Regression</a:t>
            </a:r>
          </a:p>
        </p:txBody>
      </p:sp>
      <p:sp>
        <p:nvSpPr>
          <p:cNvPr id="3" name="TextBox 2">
            <a:extLst>
              <a:ext uri="{FF2B5EF4-FFF2-40B4-BE49-F238E27FC236}">
                <a16:creationId xmlns:a16="http://schemas.microsoft.com/office/drawing/2014/main" xmlns="" id="{CB0D51EE-67E2-6E69-0976-A815D55D3A0F}"/>
              </a:ext>
            </a:extLst>
          </p:cNvPr>
          <p:cNvSpPr txBox="1"/>
          <p:nvPr/>
        </p:nvSpPr>
        <p:spPr>
          <a:xfrm>
            <a:off x="1356218" y="1853754"/>
            <a:ext cx="9793995" cy="4524315"/>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Tool Used:</a:t>
            </a:r>
            <a:r>
              <a:rPr lang="en-US" sz="2000" dirty="0">
                <a:latin typeface="Times New Roman" panose="02020603050405020304" pitchFamily="18" charset="0"/>
                <a:cs typeface="Times New Roman" panose="02020603050405020304" pitchFamily="18" charset="0"/>
              </a:rPr>
              <a:t> Orange</a:t>
            </a:r>
          </a:p>
          <a:p>
            <a:pPr marL="342900" indent="-34290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Target Variable: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Total_Revenue</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Features Used:</a:t>
            </a:r>
            <a:r>
              <a:rPr lang="en-US" sz="2000" dirty="0">
                <a:latin typeface="Times New Roman" panose="02020603050405020304" pitchFamily="18" charset="0"/>
                <a:cs typeface="Times New Roman" panose="02020603050405020304" pitchFamily="18" charset="0"/>
              </a:rPr>
              <a:t> Gender, Age, Category, Quantity, Price, Payment Method, Shopping Mall,          </a:t>
            </a:r>
            <a:r>
              <a:rPr lang="en-US" sz="2000" dirty="0" err="1">
                <a:latin typeface="Times New Roman" panose="02020603050405020304" pitchFamily="18" charset="0"/>
                <a:cs typeface="Times New Roman" panose="02020603050405020304" pitchFamily="18" charset="0"/>
              </a:rPr>
              <a:t>Age_Group</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Train–Test Split:</a:t>
            </a:r>
            <a:r>
              <a:rPr lang="en-US" sz="2000" dirty="0">
                <a:latin typeface="Times New Roman" panose="02020603050405020304" pitchFamily="18" charset="0"/>
                <a:cs typeface="Times New Roman" panose="02020603050405020304" pitchFamily="18" charset="0"/>
              </a:rPr>
              <a:t> 66% / 34%</a:t>
            </a:r>
          </a:p>
          <a:p>
            <a:pPr marL="342900" indent="-34290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Model Performance (R²):</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0.981</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The Linear Regression model shows </a:t>
            </a:r>
            <a:r>
              <a:rPr lang="en-US" sz="2000" b="1" dirty="0">
                <a:latin typeface="Times New Roman" panose="02020603050405020304" pitchFamily="18" charset="0"/>
                <a:cs typeface="Times New Roman" panose="02020603050405020304" pitchFamily="18" charset="0"/>
              </a:rPr>
              <a:t>very strong accuracy (98%)</a:t>
            </a:r>
            <a:r>
              <a:rPr lang="en-US" sz="2000" dirty="0">
                <a:latin typeface="Times New Roman" panose="02020603050405020304" pitchFamily="18" charset="0"/>
                <a:cs typeface="Times New Roman" panose="02020603050405020304" pitchFamily="18" charset="0"/>
              </a:rPr>
              <a:t>, meaning the features used in the dataset explain customer revenue extremely well. This helps in predicting future revenue patterns and understanding which customer attributes impact revenue.</a:t>
            </a:r>
          </a:p>
          <a:p>
            <a:endParaRPr lang="en-IN" dirty="0"/>
          </a:p>
        </p:txBody>
      </p:sp>
    </p:spTree>
    <p:extLst>
      <p:ext uri="{BB962C8B-B14F-4D97-AF65-F5344CB8AC3E}">
        <p14:creationId xmlns:p14="http://schemas.microsoft.com/office/powerpoint/2010/main" val="2548510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0D2C7A-A32E-BA23-A9B8-9DFDAC01744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Prediction Results </a:t>
            </a:r>
          </a:p>
        </p:txBody>
      </p:sp>
      <p:sp>
        <p:nvSpPr>
          <p:cNvPr id="3" name="TextBox 2">
            <a:extLst>
              <a:ext uri="{FF2B5EF4-FFF2-40B4-BE49-F238E27FC236}">
                <a16:creationId xmlns:a16="http://schemas.microsoft.com/office/drawing/2014/main" xmlns="" id="{6BB1E1A7-0872-93A1-2A26-6466EB3780F7}"/>
              </a:ext>
            </a:extLst>
          </p:cNvPr>
          <p:cNvSpPr txBox="1"/>
          <p:nvPr/>
        </p:nvSpPr>
        <p:spPr>
          <a:xfrm>
            <a:off x="925417" y="1597446"/>
            <a:ext cx="10428383" cy="646331"/>
          </a:xfrm>
          <a:prstGeom prst="rect">
            <a:avLst/>
          </a:prstGeom>
          <a:noFill/>
        </p:spPr>
        <p:txBody>
          <a:bodyPr wrap="square" rtlCol="0">
            <a:spAutoFit/>
          </a:bodyPr>
          <a:lstStyle/>
          <a:p>
            <a:r>
              <a:rPr lang="en-US" dirty="0"/>
              <a:t>This slide displays the predicted </a:t>
            </a:r>
            <a:r>
              <a:rPr lang="en-US" b="1" dirty="0"/>
              <a:t>Total Revenue</a:t>
            </a:r>
            <a:r>
              <a:rPr lang="en-US" dirty="0"/>
              <a:t> values generated by the Linear Regression model for sample rows.</a:t>
            </a:r>
            <a:endParaRPr lang="en-IN" dirty="0"/>
          </a:p>
        </p:txBody>
      </p:sp>
      <p:graphicFrame>
        <p:nvGraphicFramePr>
          <p:cNvPr id="4" name="Table 3">
            <a:extLst>
              <a:ext uri="{FF2B5EF4-FFF2-40B4-BE49-F238E27FC236}">
                <a16:creationId xmlns:a16="http://schemas.microsoft.com/office/drawing/2014/main" xmlns="" id="{02C6E8AE-4684-D920-6C81-B7F9162E4DD2}"/>
              </a:ext>
            </a:extLst>
          </p:cNvPr>
          <p:cNvGraphicFramePr>
            <a:graphicFrameLocks noGrp="1"/>
          </p:cNvGraphicFramePr>
          <p:nvPr>
            <p:extLst>
              <p:ext uri="{D42A27DB-BD31-4B8C-83A1-F6EECF244321}">
                <p14:modId xmlns:p14="http://schemas.microsoft.com/office/powerpoint/2010/main" val="1907672322"/>
              </p:ext>
            </p:extLst>
          </p:nvPr>
        </p:nvGraphicFramePr>
        <p:xfrm>
          <a:off x="925417" y="2243777"/>
          <a:ext cx="10515603" cy="1371600"/>
        </p:xfrm>
        <a:graphic>
          <a:graphicData uri="http://schemas.openxmlformats.org/drawingml/2006/table">
            <a:tbl>
              <a:tblPr/>
              <a:tblGrid>
                <a:gridCol w="1502229">
                  <a:extLst>
                    <a:ext uri="{9D8B030D-6E8A-4147-A177-3AD203B41FA5}">
                      <a16:colId xmlns:a16="http://schemas.microsoft.com/office/drawing/2014/main" xmlns="" val="1268366783"/>
                    </a:ext>
                  </a:extLst>
                </a:gridCol>
                <a:gridCol w="1502229">
                  <a:extLst>
                    <a:ext uri="{9D8B030D-6E8A-4147-A177-3AD203B41FA5}">
                      <a16:colId xmlns:a16="http://schemas.microsoft.com/office/drawing/2014/main" xmlns="" val="2465409425"/>
                    </a:ext>
                  </a:extLst>
                </a:gridCol>
                <a:gridCol w="1502229">
                  <a:extLst>
                    <a:ext uri="{9D8B030D-6E8A-4147-A177-3AD203B41FA5}">
                      <a16:colId xmlns:a16="http://schemas.microsoft.com/office/drawing/2014/main" xmlns="" val="2924132580"/>
                    </a:ext>
                  </a:extLst>
                </a:gridCol>
                <a:gridCol w="1502229">
                  <a:extLst>
                    <a:ext uri="{9D8B030D-6E8A-4147-A177-3AD203B41FA5}">
                      <a16:colId xmlns:a16="http://schemas.microsoft.com/office/drawing/2014/main" xmlns="" val="1327547572"/>
                    </a:ext>
                  </a:extLst>
                </a:gridCol>
                <a:gridCol w="1502229">
                  <a:extLst>
                    <a:ext uri="{9D8B030D-6E8A-4147-A177-3AD203B41FA5}">
                      <a16:colId xmlns:a16="http://schemas.microsoft.com/office/drawing/2014/main" xmlns="" val="3012648434"/>
                    </a:ext>
                  </a:extLst>
                </a:gridCol>
                <a:gridCol w="1502229">
                  <a:extLst>
                    <a:ext uri="{9D8B030D-6E8A-4147-A177-3AD203B41FA5}">
                      <a16:colId xmlns:a16="http://schemas.microsoft.com/office/drawing/2014/main" xmlns="" val="3311469188"/>
                    </a:ext>
                  </a:extLst>
                </a:gridCol>
                <a:gridCol w="1502229">
                  <a:extLst>
                    <a:ext uri="{9D8B030D-6E8A-4147-A177-3AD203B41FA5}">
                      <a16:colId xmlns:a16="http://schemas.microsoft.com/office/drawing/2014/main" xmlns="" val="3678194892"/>
                    </a:ext>
                  </a:extLst>
                </a:gridCol>
              </a:tblGrid>
              <a:tr h="640080">
                <a:tc>
                  <a:txBody>
                    <a:bodyPr/>
                    <a:lstStyle/>
                    <a:p>
                      <a:pPr>
                        <a:buNone/>
                      </a:pPr>
                      <a:endParaRPr lang="en-IN" sz="1800" b="1" dirty="0"/>
                    </a:p>
                  </a:txBody>
                  <a:tcPr anchor="ctr">
                    <a:lnL>
                      <a:noFill/>
                    </a:lnL>
                    <a:lnR>
                      <a:noFill/>
                    </a:lnR>
                    <a:lnT>
                      <a:noFill/>
                    </a:lnT>
                    <a:lnB>
                      <a:noFill/>
                    </a:lnB>
                    <a:noFill/>
                  </a:tcPr>
                </a:tc>
                <a:tc>
                  <a:txBody>
                    <a:bodyPr/>
                    <a:lstStyle/>
                    <a:p>
                      <a:pPr>
                        <a:buNone/>
                      </a:pPr>
                      <a:endParaRPr lang="en-IN" sz="1800" b="1" dirty="0"/>
                    </a:p>
                  </a:txBody>
                  <a:tcPr anchor="ctr">
                    <a:lnL>
                      <a:noFill/>
                    </a:lnL>
                    <a:lnR>
                      <a:noFill/>
                    </a:lnR>
                    <a:lnT>
                      <a:noFill/>
                    </a:lnT>
                    <a:lnB>
                      <a:noFill/>
                    </a:lnB>
                    <a:noFill/>
                  </a:tcPr>
                </a:tc>
                <a:tc>
                  <a:txBody>
                    <a:bodyPr/>
                    <a:lstStyle/>
                    <a:p>
                      <a:pPr>
                        <a:buNone/>
                      </a:pPr>
                      <a:endParaRPr lang="en-IN" sz="1800" b="1" dirty="0"/>
                    </a:p>
                  </a:txBody>
                  <a:tcPr anchor="ctr">
                    <a:lnL>
                      <a:noFill/>
                    </a:lnL>
                    <a:lnR>
                      <a:noFill/>
                    </a:lnR>
                    <a:lnT>
                      <a:noFill/>
                    </a:lnT>
                    <a:lnB>
                      <a:noFill/>
                    </a:lnB>
                    <a:noFill/>
                  </a:tcPr>
                </a:tc>
                <a:tc>
                  <a:txBody>
                    <a:bodyPr/>
                    <a:lstStyle/>
                    <a:p>
                      <a:pPr>
                        <a:buNone/>
                      </a:pPr>
                      <a:endParaRPr lang="en-IN" sz="1800" b="1" dirty="0"/>
                    </a:p>
                  </a:txBody>
                  <a:tcPr anchor="ctr">
                    <a:lnL>
                      <a:noFill/>
                    </a:lnL>
                    <a:lnR>
                      <a:noFill/>
                    </a:lnR>
                    <a:lnT>
                      <a:noFill/>
                    </a:lnT>
                    <a:lnB>
                      <a:noFill/>
                    </a:lnB>
                    <a:noFill/>
                  </a:tcPr>
                </a:tc>
                <a:tc>
                  <a:txBody>
                    <a:bodyPr/>
                    <a:lstStyle/>
                    <a:p>
                      <a:pPr>
                        <a:buNone/>
                      </a:pPr>
                      <a:endParaRPr lang="en-IN" sz="1800" b="1"/>
                    </a:p>
                  </a:txBody>
                  <a:tcPr anchor="ctr">
                    <a:lnL>
                      <a:noFill/>
                    </a:lnL>
                    <a:lnR>
                      <a:noFill/>
                    </a:lnR>
                    <a:lnT>
                      <a:noFill/>
                    </a:lnT>
                    <a:lnB>
                      <a:noFill/>
                    </a:lnB>
                    <a:noFill/>
                  </a:tcPr>
                </a:tc>
                <a:tc>
                  <a:txBody>
                    <a:bodyPr/>
                    <a:lstStyle/>
                    <a:p>
                      <a:pPr>
                        <a:buNone/>
                      </a:pPr>
                      <a:endParaRPr lang="en-IN" sz="1800" b="1" dirty="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extLst>
                  <a:ext uri="{0D108BD9-81ED-4DB2-BD59-A6C34878D82A}">
                    <a16:rowId xmlns:a16="http://schemas.microsoft.com/office/drawing/2014/main" xmlns="" val="2567741235"/>
                  </a:ext>
                </a:extLst>
              </a:tr>
              <a:tr h="365760">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dirty="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extLst>
                  <a:ext uri="{0D108BD9-81ED-4DB2-BD59-A6C34878D82A}">
                    <a16:rowId xmlns:a16="http://schemas.microsoft.com/office/drawing/2014/main" xmlns="" val="1306657179"/>
                  </a:ext>
                </a:extLst>
              </a:tr>
              <a:tr h="365760">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dirty="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endParaRPr lang="en-IN" sz="1800" dirty="0"/>
                    </a:p>
                  </a:txBody>
                  <a:tcPr anchor="ctr">
                    <a:lnL>
                      <a:noFill/>
                    </a:lnL>
                    <a:lnR>
                      <a:noFill/>
                    </a:lnR>
                    <a:lnT>
                      <a:noFill/>
                    </a:lnT>
                    <a:lnB>
                      <a:noFill/>
                    </a:lnB>
                    <a:noFill/>
                  </a:tcPr>
                </a:tc>
                <a:extLst>
                  <a:ext uri="{0D108BD9-81ED-4DB2-BD59-A6C34878D82A}">
                    <a16:rowId xmlns:a16="http://schemas.microsoft.com/office/drawing/2014/main" xmlns="" val="729387003"/>
                  </a:ext>
                </a:extLst>
              </a:tr>
            </a:tbl>
          </a:graphicData>
        </a:graphic>
      </p:graphicFrame>
      <p:graphicFrame>
        <p:nvGraphicFramePr>
          <p:cNvPr id="8" name="Table 7">
            <a:extLst>
              <a:ext uri="{FF2B5EF4-FFF2-40B4-BE49-F238E27FC236}">
                <a16:creationId xmlns:a16="http://schemas.microsoft.com/office/drawing/2014/main" xmlns="" id="{436B7C11-7FF6-0893-98DE-54B4A463EE93}"/>
              </a:ext>
            </a:extLst>
          </p:cNvPr>
          <p:cNvGraphicFramePr>
            <a:graphicFrameLocks noGrp="1"/>
          </p:cNvGraphicFramePr>
          <p:nvPr>
            <p:extLst>
              <p:ext uri="{D42A27DB-BD31-4B8C-83A1-F6EECF244321}">
                <p14:modId xmlns:p14="http://schemas.microsoft.com/office/powerpoint/2010/main" val="3905236624"/>
              </p:ext>
            </p:extLst>
          </p:nvPr>
        </p:nvGraphicFramePr>
        <p:xfrm>
          <a:off x="1082099" y="2243777"/>
          <a:ext cx="10027801" cy="1812648"/>
        </p:xfrm>
        <a:graphic>
          <a:graphicData uri="http://schemas.openxmlformats.org/drawingml/2006/table">
            <a:tbl>
              <a:tblPr firstRow="1" bandRow="1">
                <a:tableStyleId>{5C22544A-7EE6-4342-B048-85BDC9FD1C3A}</a:tableStyleId>
              </a:tblPr>
              <a:tblGrid>
                <a:gridCol w="1432543">
                  <a:extLst>
                    <a:ext uri="{9D8B030D-6E8A-4147-A177-3AD203B41FA5}">
                      <a16:colId xmlns:a16="http://schemas.microsoft.com/office/drawing/2014/main" xmlns="" val="1668107859"/>
                    </a:ext>
                  </a:extLst>
                </a:gridCol>
                <a:gridCol w="1432543">
                  <a:extLst>
                    <a:ext uri="{9D8B030D-6E8A-4147-A177-3AD203B41FA5}">
                      <a16:colId xmlns:a16="http://schemas.microsoft.com/office/drawing/2014/main" xmlns="" val="3573409871"/>
                    </a:ext>
                  </a:extLst>
                </a:gridCol>
                <a:gridCol w="1432543">
                  <a:extLst>
                    <a:ext uri="{9D8B030D-6E8A-4147-A177-3AD203B41FA5}">
                      <a16:colId xmlns:a16="http://schemas.microsoft.com/office/drawing/2014/main" xmlns="" val="3896935874"/>
                    </a:ext>
                  </a:extLst>
                </a:gridCol>
                <a:gridCol w="1432543">
                  <a:extLst>
                    <a:ext uri="{9D8B030D-6E8A-4147-A177-3AD203B41FA5}">
                      <a16:colId xmlns:a16="http://schemas.microsoft.com/office/drawing/2014/main" xmlns="" val="920893335"/>
                    </a:ext>
                  </a:extLst>
                </a:gridCol>
                <a:gridCol w="1432543">
                  <a:extLst>
                    <a:ext uri="{9D8B030D-6E8A-4147-A177-3AD203B41FA5}">
                      <a16:colId xmlns:a16="http://schemas.microsoft.com/office/drawing/2014/main" xmlns="" val="3171160223"/>
                    </a:ext>
                  </a:extLst>
                </a:gridCol>
                <a:gridCol w="1432543">
                  <a:extLst>
                    <a:ext uri="{9D8B030D-6E8A-4147-A177-3AD203B41FA5}">
                      <a16:colId xmlns:a16="http://schemas.microsoft.com/office/drawing/2014/main" xmlns="" val="761918959"/>
                    </a:ext>
                  </a:extLst>
                </a:gridCol>
                <a:gridCol w="1432543">
                  <a:extLst>
                    <a:ext uri="{9D8B030D-6E8A-4147-A177-3AD203B41FA5}">
                      <a16:colId xmlns:a16="http://schemas.microsoft.com/office/drawing/2014/main" xmlns="" val="1347379545"/>
                    </a:ext>
                  </a:extLst>
                </a:gridCol>
              </a:tblGrid>
              <a:tr h="586284">
                <a:tc>
                  <a:txBody>
                    <a:bodyPr/>
                    <a:lstStyle/>
                    <a:p>
                      <a:pPr>
                        <a:buNone/>
                      </a:pPr>
                      <a:r>
                        <a:rPr lang="en-IN"/>
                        <a:t>Gender</a:t>
                      </a:r>
                      <a:endParaRPr lang="en-IN" dirty="0"/>
                    </a:p>
                  </a:txBody>
                  <a:tcPr anchor="ctr"/>
                </a:tc>
                <a:tc>
                  <a:txBody>
                    <a:bodyPr/>
                    <a:lstStyle/>
                    <a:p>
                      <a:pPr>
                        <a:buNone/>
                      </a:pPr>
                      <a:r>
                        <a:rPr lang="en-IN"/>
                        <a:t>Quantity</a:t>
                      </a:r>
                    </a:p>
                  </a:txBody>
                  <a:tcPr anchor="ctr"/>
                </a:tc>
                <a:tc>
                  <a:txBody>
                    <a:bodyPr/>
                    <a:lstStyle/>
                    <a:p>
                      <a:pPr>
                        <a:buNone/>
                      </a:pPr>
                      <a:r>
                        <a:rPr lang="en-IN"/>
                        <a:t>Price</a:t>
                      </a:r>
                      <a:endParaRPr lang="en-IN" dirty="0"/>
                    </a:p>
                  </a:txBody>
                  <a:tcPr anchor="ctr"/>
                </a:tc>
                <a:tc>
                  <a:txBody>
                    <a:bodyPr/>
                    <a:lstStyle/>
                    <a:p>
                      <a:pPr>
                        <a:buNone/>
                      </a:pPr>
                      <a:r>
                        <a:rPr lang="en-IN"/>
                        <a:t>Category</a:t>
                      </a:r>
                    </a:p>
                  </a:txBody>
                  <a:tcPr anchor="ctr"/>
                </a:tc>
                <a:tc>
                  <a:txBody>
                    <a:bodyPr/>
                    <a:lstStyle/>
                    <a:p>
                      <a:pPr>
                        <a:buNone/>
                      </a:pPr>
                      <a:r>
                        <a:rPr lang="en-IN"/>
                        <a:t>Payment Method</a:t>
                      </a:r>
                    </a:p>
                  </a:txBody>
                  <a:tcPr anchor="ctr"/>
                </a:tc>
                <a:tc>
                  <a:txBody>
                    <a:bodyPr/>
                    <a:lstStyle/>
                    <a:p>
                      <a:pPr>
                        <a:buNone/>
                      </a:pPr>
                      <a:r>
                        <a:rPr lang="en-IN" dirty="0"/>
                        <a:t>Age Group</a:t>
                      </a:r>
                    </a:p>
                  </a:txBody>
                  <a:tcPr anchor="ctr"/>
                </a:tc>
                <a:tc>
                  <a:txBody>
                    <a:bodyPr/>
                    <a:lstStyle/>
                    <a:p>
                      <a:pPr>
                        <a:buNone/>
                      </a:pPr>
                      <a:r>
                        <a:rPr lang="en-IN" b="1"/>
                        <a:t>Predicted Revenue</a:t>
                      </a:r>
                      <a:endParaRPr lang="en-IN" dirty="0"/>
                    </a:p>
                  </a:txBody>
                  <a:tcPr anchor="ctr"/>
                </a:tc>
                <a:extLst>
                  <a:ext uri="{0D108BD9-81ED-4DB2-BD59-A6C34878D82A}">
                    <a16:rowId xmlns:a16="http://schemas.microsoft.com/office/drawing/2014/main" xmlns="" val="1503875097"/>
                  </a:ext>
                </a:extLst>
              </a:tr>
              <a:tr h="586284">
                <a:tc>
                  <a:txBody>
                    <a:bodyPr/>
                    <a:lstStyle/>
                    <a:p>
                      <a:pPr>
                        <a:buNone/>
                      </a:pPr>
                      <a:r>
                        <a:rPr lang="en-IN"/>
                        <a:t>Female</a:t>
                      </a:r>
                      <a:endParaRPr lang="en-IN" dirty="0"/>
                    </a:p>
                  </a:txBody>
                  <a:tcPr anchor="ctr"/>
                </a:tc>
                <a:tc>
                  <a:txBody>
                    <a:bodyPr/>
                    <a:lstStyle/>
                    <a:p>
                      <a:pPr>
                        <a:buNone/>
                      </a:pPr>
                      <a:r>
                        <a:rPr lang="en-IN"/>
                        <a:t>2</a:t>
                      </a:r>
                    </a:p>
                  </a:txBody>
                  <a:tcPr anchor="ctr"/>
                </a:tc>
                <a:tc>
                  <a:txBody>
                    <a:bodyPr/>
                    <a:lstStyle/>
                    <a:p>
                      <a:pPr>
                        <a:buNone/>
                      </a:pPr>
                      <a:r>
                        <a:rPr lang="en-IN"/>
                        <a:t>350</a:t>
                      </a:r>
                      <a:endParaRPr lang="en-IN" dirty="0"/>
                    </a:p>
                  </a:txBody>
                  <a:tcPr anchor="ctr"/>
                </a:tc>
                <a:tc>
                  <a:txBody>
                    <a:bodyPr/>
                    <a:lstStyle/>
                    <a:p>
                      <a:pPr>
                        <a:buNone/>
                      </a:pPr>
                      <a:r>
                        <a:rPr lang="en-IN"/>
                        <a:t>Clothing</a:t>
                      </a:r>
                    </a:p>
                  </a:txBody>
                  <a:tcPr anchor="ctr"/>
                </a:tc>
                <a:tc>
                  <a:txBody>
                    <a:bodyPr/>
                    <a:lstStyle/>
                    <a:p>
                      <a:pPr>
                        <a:buNone/>
                      </a:pPr>
                      <a:r>
                        <a:rPr lang="en-IN"/>
                        <a:t>Credit Card</a:t>
                      </a:r>
                    </a:p>
                  </a:txBody>
                  <a:tcPr anchor="ctr"/>
                </a:tc>
                <a:tc>
                  <a:txBody>
                    <a:bodyPr/>
                    <a:lstStyle/>
                    <a:p>
                      <a:pPr>
                        <a:buNone/>
                      </a:pPr>
                      <a:r>
                        <a:rPr lang="en-IN"/>
                        <a:t>21–30</a:t>
                      </a:r>
                    </a:p>
                  </a:txBody>
                  <a:tcPr anchor="ctr"/>
                </a:tc>
                <a:tc>
                  <a:txBody>
                    <a:bodyPr/>
                    <a:lstStyle/>
                    <a:p>
                      <a:pPr>
                        <a:buNone/>
                      </a:pPr>
                      <a:r>
                        <a:rPr lang="en-IN" i="1"/>
                        <a:t>₹ 720.45</a:t>
                      </a:r>
                      <a:endParaRPr lang="en-IN" dirty="0"/>
                    </a:p>
                  </a:txBody>
                  <a:tcPr anchor="ctr"/>
                </a:tc>
                <a:extLst>
                  <a:ext uri="{0D108BD9-81ED-4DB2-BD59-A6C34878D82A}">
                    <a16:rowId xmlns:a16="http://schemas.microsoft.com/office/drawing/2014/main" xmlns="" val="1214759284"/>
                  </a:ext>
                </a:extLst>
              </a:tr>
              <a:tr h="586284">
                <a:tc>
                  <a:txBody>
                    <a:bodyPr/>
                    <a:lstStyle/>
                    <a:p>
                      <a:pPr>
                        <a:buNone/>
                      </a:pPr>
                      <a:r>
                        <a:rPr lang="en-IN"/>
                        <a:t>Male</a:t>
                      </a:r>
                      <a:endParaRPr lang="en-IN" dirty="0"/>
                    </a:p>
                  </a:txBody>
                  <a:tcPr anchor="ctr"/>
                </a:tc>
                <a:tc>
                  <a:txBody>
                    <a:bodyPr/>
                    <a:lstStyle/>
                    <a:p>
                      <a:pPr>
                        <a:buNone/>
                      </a:pPr>
                      <a:r>
                        <a:rPr lang="en-IN"/>
                        <a:t>1</a:t>
                      </a:r>
                    </a:p>
                  </a:txBody>
                  <a:tcPr anchor="ctr"/>
                </a:tc>
                <a:tc>
                  <a:txBody>
                    <a:bodyPr/>
                    <a:lstStyle/>
                    <a:p>
                      <a:pPr>
                        <a:buNone/>
                      </a:pPr>
                      <a:r>
                        <a:rPr lang="en-IN"/>
                        <a:t>560</a:t>
                      </a:r>
                    </a:p>
                  </a:txBody>
                  <a:tcPr anchor="ctr"/>
                </a:tc>
                <a:tc>
                  <a:txBody>
                    <a:bodyPr/>
                    <a:lstStyle/>
                    <a:p>
                      <a:pPr>
                        <a:buNone/>
                      </a:pPr>
                      <a:r>
                        <a:rPr lang="en-IN"/>
                        <a:t>Electronics</a:t>
                      </a:r>
                    </a:p>
                  </a:txBody>
                  <a:tcPr anchor="ctr"/>
                </a:tc>
                <a:tc>
                  <a:txBody>
                    <a:bodyPr/>
                    <a:lstStyle/>
                    <a:p>
                      <a:pPr>
                        <a:buNone/>
                      </a:pPr>
                      <a:r>
                        <a:rPr lang="en-IN"/>
                        <a:t>Debit Card</a:t>
                      </a:r>
                    </a:p>
                  </a:txBody>
                  <a:tcPr anchor="ctr"/>
                </a:tc>
                <a:tc>
                  <a:txBody>
                    <a:bodyPr/>
                    <a:lstStyle/>
                    <a:p>
                      <a:pPr>
                        <a:buNone/>
                      </a:pPr>
                      <a:r>
                        <a:rPr lang="en-IN"/>
                        <a:t>31–40</a:t>
                      </a:r>
                    </a:p>
                  </a:txBody>
                  <a:tcPr anchor="ctr"/>
                </a:tc>
                <a:tc>
                  <a:txBody>
                    <a:bodyPr/>
                    <a:lstStyle/>
                    <a:p>
                      <a:pPr>
                        <a:buNone/>
                      </a:pPr>
                      <a:r>
                        <a:rPr lang="en-IN" i="1" dirty="0"/>
                        <a:t>₹ 1120.76</a:t>
                      </a:r>
                      <a:endParaRPr lang="en-IN" dirty="0"/>
                    </a:p>
                  </a:txBody>
                  <a:tcPr anchor="ctr"/>
                </a:tc>
                <a:extLst>
                  <a:ext uri="{0D108BD9-81ED-4DB2-BD59-A6C34878D82A}">
                    <a16:rowId xmlns:a16="http://schemas.microsoft.com/office/drawing/2014/main" xmlns="" val="3755239856"/>
                  </a:ext>
                </a:extLst>
              </a:tr>
            </a:tbl>
          </a:graphicData>
        </a:graphic>
      </p:graphicFrame>
      <p:sp>
        <p:nvSpPr>
          <p:cNvPr id="10" name="TextBox 9">
            <a:extLst>
              <a:ext uri="{FF2B5EF4-FFF2-40B4-BE49-F238E27FC236}">
                <a16:creationId xmlns:a16="http://schemas.microsoft.com/office/drawing/2014/main" xmlns="" id="{B14002F5-3F34-8BD3-338B-5857CD968FAC}"/>
              </a:ext>
            </a:extLst>
          </p:cNvPr>
          <p:cNvSpPr txBox="1"/>
          <p:nvPr/>
        </p:nvSpPr>
        <p:spPr>
          <a:xfrm>
            <a:off x="1082099" y="4184551"/>
            <a:ext cx="10027800" cy="2345322"/>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Even with varying customer attributes (age group, payment method, category, and price levels), the model provides consistent and realistic revenue predictions.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validates the stability and reliability of the regression model.</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These predictions help understand how different factors influence customer spending and allow businesses to forecast future revenue patterns more accurately.</a:t>
            </a:r>
          </a:p>
        </p:txBody>
      </p:sp>
    </p:spTree>
    <p:extLst>
      <p:ext uri="{BB962C8B-B14F-4D97-AF65-F5344CB8AC3E}">
        <p14:creationId xmlns:p14="http://schemas.microsoft.com/office/powerpoint/2010/main" val="1950455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3B0B72-CC65-6165-56BB-14982473778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xmlns="" id="{56F7BABC-3F31-39B8-B651-E2D0F155AF8A}"/>
              </a:ext>
            </a:extLst>
          </p:cNvPr>
          <p:cNvSpPr txBox="1"/>
          <p:nvPr/>
        </p:nvSpPr>
        <p:spPr>
          <a:xfrm>
            <a:off x="838199" y="1723594"/>
            <a:ext cx="10515599" cy="3730317"/>
          </a:xfrm>
          <a:prstGeom prst="rect">
            <a:avLst/>
          </a:prstGeom>
          <a:noFill/>
        </p:spPr>
        <p:txBody>
          <a:bodyPr wrap="square">
            <a:spAutoFit/>
          </a:bodyPr>
          <a:lstStyle/>
          <a:p>
            <a:pPr algn="just">
              <a:lnSpc>
                <a:spcPct val="150000"/>
              </a:lnSpc>
              <a:buNone/>
            </a:pPr>
            <a:r>
              <a:rPr lang="en-US" sz="2000" dirty="0">
                <a:latin typeface="Times New Roman" panose="02020603050405020304" pitchFamily="18" charset="0"/>
                <a:cs typeface="Times New Roman" panose="02020603050405020304" pitchFamily="18" charset="0"/>
              </a:rPr>
              <a:t>The customer data analysis reveals that female customers, especially those in the 31–40 age group, contribute the highest number of purchases and generate the most revenue. Clothing and Cosmetics are the most preferred categories, while Credit Card and Cash remain the dominant payment methods. Revenue varies across shopping malls, showing differences in customer footfall and spending patterns.</a:t>
            </a:r>
          </a:p>
          <a:p>
            <a:pPr algn="just">
              <a:lnSpc>
                <a:spcPct val="150000"/>
              </a:lnSpc>
              <a:buNone/>
            </a:pPr>
            <a:r>
              <a:rPr lang="en-US" sz="2000" dirty="0">
                <a:latin typeface="Times New Roman" panose="02020603050405020304" pitchFamily="18" charset="0"/>
                <a:cs typeface="Times New Roman" panose="02020603050405020304" pitchFamily="18" charset="0"/>
              </a:rPr>
              <a:t>These insights help the company understand its key customer segments, popular product categories, and payment trends. With this information, the company can improve targeted marketing, optimize inventory, and enhance sales strategies to drive better business growth.</a:t>
            </a:r>
          </a:p>
        </p:txBody>
      </p:sp>
    </p:spTree>
    <p:extLst>
      <p:ext uri="{BB962C8B-B14F-4D97-AF65-F5344CB8AC3E}">
        <p14:creationId xmlns:p14="http://schemas.microsoft.com/office/powerpoint/2010/main" val="33415961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xmlns=""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1059</TotalTime>
  <Words>1584</Words>
  <Application>Microsoft Office PowerPoint</Application>
  <PresentationFormat>Custom</PresentationFormat>
  <Paragraphs>257</Paragraphs>
  <Slides>24</Slides>
  <Notes>4</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Damask</vt:lpstr>
      <vt:lpstr>Customer Data Analysis</vt:lpstr>
      <vt:lpstr>PROJECT OVERVIEW</vt:lpstr>
      <vt:lpstr>Dataset Access  </vt:lpstr>
      <vt:lpstr>Sample Dataset</vt:lpstr>
      <vt:lpstr>Additional Columns Added </vt:lpstr>
      <vt:lpstr>PowerPoint Presentation</vt:lpstr>
      <vt:lpstr>Data Cleaning &amp; Preparation</vt:lpstr>
      <vt:lpstr>Key Insights : Gender</vt:lpstr>
      <vt:lpstr>Key Insights : Age Group</vt:lpstr>
      <vt:lpstr>Category and Payment Insights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Predictive Modelling – Linear Regression</vt:lpstr>
      <vt:lpstr>Prediction Results </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Data Analysis</dc:title>
  <dc:creator>jahnavi k</dc:creator>
  <cp:lastModifiedBy>K jahnavi reddy</cp:lastModifiedBy>
  <cp:revision>3</cp:revision>
  <dcterms:created xsi:type="dcterms:W3CDTF">2025-11-20T12:12:16Z</dcterms:created>
  <dcterms:modified xsi:type="dcterms:W3CDTF">2025-11-22T12:40:51Z</dcterms:modified>
</cp:coreProperties>
</file>